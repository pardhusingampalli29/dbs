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3588"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va Reddy Umanthala" userId="834c5c0fb40ed1a9" providerId="LiveId" clId="{D2AB45DF-FBB0-486D-98D5-5BE0506BBED4}"/>
    <pc:docChg chg="modSld">
      <pc:chgData name="Shiva Reddy Umanthala" userId="834c5c0fb40ed1a9" providerId="LiveId" clId="{D2AB45DF-FBB0-486D-98D5-5BE0506BBED4}" dt="2026-09-29T04:45:59.226" v="13" actId="22"/>
      <pc:docMkLst>
        <pc:docMk/>
      </pc:docMkLst>
      <pc:sldChg chg="addSp delSp modSp mod">
        <pc:chgData name="Shiva Reddy Umanthala" userId="834c5c0fb40ed1a9" providerId="LiveId" clId="{D2AB45DF-FBB0-486D-98D5-5BE0506BBED4}" dt="2026-09-29T04:45:31.305" v="5"/>
        <pc:sldMkLst>
          <pc:docMk/>
          <pc:sldMk cId="0" sldId="259"/>
        </pc:sldMkLst>
        <pc:spChg chg="add del mod">
          <ac:chgData name="Shiva Reddy Umanthala" userId="834c5c0fb40ed1a9" providerId="LiveId" clId="{D2AB45DF-FBB0-486D-98D5-5BE0506BBED4}" dt="2026-09-29T04:45:31.305" v="5"/>
          <ac:spMkLst>
            <pc:docMk/>
            <pc:sldMk cId="0" sldId="259"/>
            <ac:spMk id="2" creationId="{C991A74D-3ADC-F38A-7D01-93A465E3B622}"/>
          </ac:spMkLst>
        </pc:spChg>
        <pc:picChg chg="mod">
          <ac:chgData name="Shiva Reddy Umanthala" userId="834c5c0fb40ed1a9" providerId="LiveId" clId="{D2AB45DF-FBB0-486D-98D5-5BE0506BBED4}" dt="2026-09-29T04:45:30.285" v="3" actId="1076"/>
          <ac:picMkLst>
            <pc:docMk/>
            <pc:sldMk cId="0" sldId="259"/>
            <ac:picMk id="43" creationId="{00000000-0000-0000-0000-000000000000}"/>
          </ac:picMkLst>
        </pc:picChg>
      </pc:sldChg>
      <pc:sldChg chg="addSp modSp mod">
        <pc:chgData name="Shiva Reddy Umanthala" userId="834c5c0fb40ed1a9" providerId="LiveId" clId="{D2AB45DF-FBB0-486D-98D5-5BE0506BBED4}" dt="2026-09-29T04:45:41.577" v="7" actId="1036"/>
        <pc:sldMkLst>
          <pc:docMk/>
          <pc:sldMk cId="0" sldId="260"/>
        </pc:sldMkLst>
        <pc:picChg chg="add mod">
          <ac:chgData name="Shiva Reddy Umanthala" userId="834c5c0fb40ed1a9" providerId="LiveId" clId="{D2AB45DF-FBB0-486D-98D5-5BE0506BBED4}" dt="2026-09-29T04:45:41.577" v="7" actId="1036"/>
          <ac:picMkLst>
            <pc:docMk/>
            <pc:sldMk cId="0" sldId="260"/>
            <ac:picMk id="3" creationId="{165CB861-FC0B-907A-2614-31482774EC49}"/>
          </ac:picMkLst>
        </pc:picChg>
      </pc:sldChg>
      <pc:sldChg chg="addSp mod">
        <pc:chgData name="Shiva Reddy Umanthala" userId="834c5c0fb40ed1a9" providerId="LiveId" clId="{D2AB45DF-FBB0-486D-98D5-5BE0506BBED4}" dt="2026-09-29T04:45:47.170" v="8" actId="22"/>
        <pc:sldMkLst>
          <pc:docMk/>
          <pc:sldMk cId="0" sldId="261"/>
        </pc:sldMkLst>
        <pc:picChg chg="add">
          <ac:chgData name="Shiva Reddy Umanthala" userId="834c5c0fb40ed1a9" providerId="LiveId" clId="{D2AB45DF-FBB0-486D-98D5-5BE0506BBED4}" dt="2026-09-29T04:45:47.170" v="8" actId="22"/>
          <ac:picMkLst>
            <pc:docMk/>
            <pc:sldMk cId="0" sldId="261"/>
            <ac:picMk id="3" creationId="{0F78515A-BB1F-5AB6-C5D3-325640F52D93}"/>
          </ac:picMkLst>
        </pc:picChg>
      </pc:sldChg>
      <pc:sldChg chg="addSp mod">
        <pc:chgData name="Shiva Reddy Umanthala" userId="834c5c0fb40ed1a9" providerId="LiveId" clId="{D2AB45DF-FBB0-486D-98D5-5BE0506BBED4}" dt="2026-09-29T04:45:49.754" v="9" actId="22"/>
        <pc:sldMkLst>
          <pc:docMk/>
          <pc:sldMk cId="0" sldId="262"/>
        </pc:sldMkLst>
        <pc:picChg chg="add">
          <ac:chgData name="Shiva Reddy Umanthala" userId="834c5c0fb40ed1a9" providerId="LiveId" clId="{D2AB45DF-FBB0-486D-98D5-5BE0506BBED4}" dt="2026-09-29T04:45:49.754" v="9" actId="22"/>
          <ac:picMkLst>
            <pc:docMk/>
            <pc:sldMk cId="0" sldId="262"/>
            <ac:picMk id="3" creationId="{1D66F33A-890A-C1F4-144A-B0904D0C08B3}"/>
          </ac:picMkLst>
        </pc:picChg>
      </pc:sldChg>
      <pc:sldChg chg="addSp mod">
        <pc:chgData name="Shiva Reddy Umanthala" userId="834c5c0fb40ed1a9" providerId="LiveId" clId="{D2AB45DF-FBB0-486D-98D5-5BE0506BBED4}" dt="2026-09-29T04:45:53.024" v="10" actId="22"/>
        <pc:sldMkLst>
          <pc:docMk/>
          <pc:sldMk cId="0" sldId="263"/>
        </pc:sldMkLst>
        <pc:picChg chg="add">
          <ac:chgData name="Shiva Reddy Umanthala" userId="834c5c0fb40ed1a9" providerId="LiveId" clId="{D2AB45DF-FBB0-486D-98D5-5BE0506BBED4}" dt="2026-09-29T04:45:53.024" v="10" actId="22"/>
          <ac:picMkLst>
            <pc:docMk/>
            <pc:sldMk cId="0" sldId="263"/>
            <ac:picMk id="3" creationId="{B6589CB8-8AA1-D430-331A-D8300B4176F5}"/>
          </ac:picMkLst>
        </pc:picChg>
      </pc:sldChg>
      <pc:sldChg chg="addSp mod">
        <pc:chgData name="Shiva Reddy Umanthala" userId="834c5c0fb40ed1a9" providerId="LiveId" clId="{D2AB45DF-FBB0-486D-98D5-5BE0506BBED4}" dt="2026-09-29T04:45:55.065" v="11" actId="22"/>
        <pc:sldMkLst>
          <pc:docMk/>
          <pc:sldMk cId="0" sldId="264"/>
        </pc:sldMkLst>
        <pc:picChg chg="add">
          <ac:chgData name="Shiva Reddy Umanthala" userId="834c5c0fb40ed1a9" providerId="LiveId" clId="{D2AB45DF-FBB0-486D-98D5-5BE0506BBED4}" dt="2026-09-29T04:45:55.065" v="11" actId="22"/>
          <ac:picMkLst>
            <pc:docMk/>
            <pc:sldMk cId="0" sldId="264"/>
            <ac:picMk id="3" creationId="{3D8D5ED0-E1AD-F2F1-DAEE-922FB5354757}"/>
          </ac:picMkLst>
        </pc:picChg>
      </pc:sldChg>
      <pc:sldChg chg="addSp mod">
        <pc:chgData name="Shiva Reddy Umanthala" userId="834c5c0fb40ed1a9" providerId="LiveId" clId="{D2AB45DF-FBB0-486D-98D5-5BE0506BBED4}" dt="2026-09-29T04:45:57.084" v="12" actId="22"/>
        <pc:sldMkLst>
          <pc:docMk/>
          <pc:sldMk cId="0" sldId="265"/>
        </pc:sldMkLst>
        <pc:picChg chg="add">
          <ac:chgData name="Shiva Reddy Umanthala" userId="834c5c0fb40ed1a9" providerId="LiveId" clId="{D2AB45DF-FBB0-486D-98D5-5BE0506BBED4}" dt="2026-09-29T04:45:57.084" v="12" actId="22"/>
          <ac:picMkLst>
            <pc:docMk/>
            <pc:sldMk cId="0" sldId="265"/>
            <ac:picMk id="3" creationId="{2D03630C-65F1-F13D-654D-D13493C392BF}"/>
          </ac:picMkLst>
        </pc:picChg>
      </pc:sldChg>
      <pc:sldChg chg="addSp mod">
        <pc:chgData name="Shiva Reddy Umanthala" userId="834c5c0fb40ed1a9" providerId="LiveId" clId="{D2AB45DF-FBB0-486D-98D5-5BE0506BBED4}" dt="2026-09-29T04:45:59.226" v="13" actId="22"/>
        <pc:sldMkLst>
          <pc:docMk/>
          <pc:sldMk cId="0" sldId="266"/>
        </pc:sldMkLst>
        <pc:picChg chg="add">
          <ac:chgData name="Shiva Reddy Umanthala" userId="834c5c0fb40ed1a9" providerId="LiveId" clId="{D2AB45DF-FBB0-486D-98D5-5BE0506BBED4}" dt="2026-09-29T04:45:59.226" v="13" actId="22"/>
          <ac:picMkLst>
            <pc:docMk/>
            <pc:sldMk cId="0" sldId="266"/>
            <ac:picMk id="3" creationId="{584BE5E2-5E89-8D31-6FBC-9EA59BA6597F}"/>
          </ac:picMkLst>
        </pc:pic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bg>
      <p:bgPr>
        <a:solidFill>
          <a:srgbClr val="FFFFFF"/>
        </a:solidFill>
        <a:effectLst/>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838080" y="365040"/>
            <a:ext cx="10515600" cy="1325520"/>
          </a:xfrm>
          <a:prstGeom prst="rect">
            <a:avLst/>
          </a:prstGeom>
          <a:noFill/>
          <a:ln w="0">
            <a:noFill/>
          </a:ln>
        </p:spPr>
        <p:txBody>
          <a:bodyPr lIns="90000" tIns="46800" rIns="90000" bIns="4680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000000"/>
                </a:solidFill>
                <a:effectLst/>
                <a:uFillTx/>
                <a:latin typeface="Calibri Light"/>
              </a:rPr>
              <a:t>Click to edit the title text format</a:t>
            </a:r>
          </a:p>
        </p:txBody>
      </p:sp>
      <p:sp>
        <p:nvSpPr>
          <p:cNvPr id="9" name="PlaceHolder 2"/>
          <p:cNvSpPr>
            <a:spLocks noGrp="1"/>
          </p:cNvSpPr>
          <p:nvPr>
            <p:ph type="body"/>
          </p:nvPr>
        </p:nvSpPr>
        <p:spPr>
          <a:xfrm>
            <a:off x="838080" y="1825200"/>
            <a:ext cx="10515600" cy="4351320"/>
          </a:xfrm>
          <a:prstGeom prst="rect">
            <a:avLst/>
          </a:prstGeom>
          <a:noFill/>
          <a:ln w="0">
            <a:noFill/>
          </a:ln>
        </p:spPr>
        <p:txBody>
          <a:bodyPr lIns="90000" tIns="46800" rIns="90000" bIns="46800" anchor="t">
            <a:normAutofit/>
          </a:bodyPr>
          <a:lstStyle/>
          <a:p>
            <a:pPr marL="228600"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a:rPr>
              <a:t>Click to edit the outline text format</a:t>
            </a:r>
          </a:p>
          <a:p>
            <a:pPr marL="685800" lvl="1"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a:rPr>
              <a:t>Second Outline Level</a:t>
            </a:r>
          </a:p>
          <a:p>
            <a:pPr marL="1143000" lvl="2"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a:rPr>
              <a:t>Third Outline Level</a:t>
            </a:r>
          </a:p>
          <a:p>
            <a:pPr marL="1600200" lvl="3"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a:rPr>
              <a:t>Fourth Outline Level</a:t>
            </a:r>
          </a:p>
          <a:p>
            <a:pPr marL="2057400" lvl="4"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a:rPr>
              <a:t>Fifth Outline Level</a:t>
            </a:r>
          </a:p>
          <a:p>
            <a:pPr marL="2057400" lvl="5"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a:rPr>
              <a:t>Sixth Outline Level</a:t>
            </a:r>
          </a:p>
          <a:p>
            <a:pPr marL="2057400" lvl="6"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a:rPr>
              <a:t>Seventh Outline Level</a:t>
            </a:r>
          </a:p>
        </p:txBody>
      </p:sp>
      <p:sp>
        <p:nvSpPr>
          <p:cNvPr id="2" name="PlaceHolder 3"/>
          <p:cNvSpPr>
            <a:spLocks noGrp="1"/>
          </p:cNvSpPr>
          <p:nvPr>
            <p:ph type="dt" idx="1"/>
          </p:nvPr>
        </p:nvSpPr>
        <p:spPr>
          <a:xfrm>
            <a:off x="838080" y="6356520"/>
            <a:ext cx="2743200" cy="365040"/>
          </a:xfrm>
          <a:prstGeom prst="rect">
            <a:avLst/>
          </a:prstGeom>
          <a:noFill/>
          <a:ln w="0">
            <a:noFill/>
          </a:ln>
        </p:spPr>
        <p:txBody>
          <a:bodyPr lIns="90000" tIns="46800" rIns="90000" bIns="46800" anchor="ctr">
            <a:noAutofit/>
          </a:bodyPr>
          <a:lstStyle>
            <a:lvl1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IN" sz="1200" b="0" u="none" strike="noStrike">
                <a:solidFill>
                  <a:srgbClr val="898989"/>
                </a:solidFill>
                <a:effectLst/>
                <a:uFillTx/>
                <a:latin typeface="Times New Roman"/>
              </a:defRPr>
            </a:lvl1p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B0CD007-B1AE-40B8-9CCF-F13AD794E7A1}" type="datetime">
              <a:rPr lang="en-IN" sz="1200" b="0" u="none" strike="noStrike">
                <a:solidFill>
                  <a:srgbClr val="898989"/>
                </a:solidFill>
                <a:effectLst/>
                <a:uFillTx/>
                <a:latin typeface="Times New Roman"/>
              </a:rPr>
              <a:t>29-09-2026</a:t>
            </a:fld>
            <a:endParaRPr lang="en-US" sz="1200" b="0" u="none" strike="noStrike">
              <a:solidFill>
                <a:srgbClr val="000000"/>
              </a:solidFill>
              <a:effectLst/>
              <a:uFillTx/>
              <a:latin typeface="Times New Roman"/>
            </a:endParaRPr>
          </a:p>
        </p:txBody>
      </p:sp>
      <p:sp>
        <p:nvSpPr>
          <p:cNvPr id="3" name="PlaceHolder 4"/>
          <p:cNvSpPr>
            <a:spLocks noGrp="1"/>
          </p:cNvSpPr>
          <p:nvPr>
            <p:ph type="ftr" idx="2"/>
          </p:nvPr>
        </p:nvSpPr>
        <p:spPr>
          <a:xfrm>
            <a:off x="4038480" y="6356520"/>
            <a:ext cx="4114800" cy="365040"/>
          </a:xfrm>
          <a:prstGeom prst="rect">
            <a:avLst/>
          </a:prstGeom>
          <a:noFill/>
          <a:ln w="0">
            <a:noFill/>
          </a:ln>
        </p:spPr>
        <p:txBody>
          <a:bodyPr lIns="90000" tIns="46800" rIns="90000" bIns="46800" anchor="ctr">
            <a:noAutofit/>
          </a:body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4" name="PlaceHolder 5"/>
          <p:cNvSpPr>
            <a:spLocks noGrp="1"/>
          </p:cNvSpPr>
          <p:nvPr>
            <p:ph type="sldNum" idx="3"/>
          </p:nvPr>
        </p:nvSpPr>
        <p:spPr>
          <a:xfrm>
            <a:off x="9067680" y="6176880"/>
            <a:ext cx="2743200" cy="365040"/>
          </a:xfrm>
          <a:prstGeom prst="rect">
            <a:avLst/>
          </a:prstGeom>
          <a:noFill/>
          <a:ln w="0">
            <a:noFill/>
          </a:ln>
        </p:spPr>
        <p:txBody>
          <a:bodyPr lIns="90000" tIns="46800" rIns="90000" bIns="46800" anchor="ctr">
            <a:noAutofit/>
          </a:bodyPr>
          <a:lstStyle>
            <a:lvl1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IN" sz="1200" b="1" u="none" strike="noStrike">
                <a:solidFill>
                  <a:srgbClr val="C00000"/>
                </a:solidFill>
                <a:effectLst/>
                <a:uFillTx/>
                <a:latin typeface="Times New Roman"/>
              </a:defRPr>
            </a:lvl1pPr>
          </a:lstStyle>
          <a:p>
            <a: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AE4D4B16-098E-4A04-9002-EAFEDB05DFC4}" type="slidenum">
              <a:rPr lang="en-IN" sz="1200" b="1" u="none" strike="noStrike">
                <a:solidFill>
                  <a:srgbClr val="C00000"/>
                </a:solidFill>
                <a:effectLst/>
                <a:uFillTx/>
                <a:latin typeface="Times New Roman"/>
              </a:rPr>
              <a:t>‹#›</a:t>
            </a:fld>
            <a:endParaRPr lang="en-US" sz="1200" b="0" u="none" strike="noStrike">
              <a:solidFill>
                <a:srgbClr val="000000"/>
              </a:solidFill>
              <a:effectLst/>
              <a:uFillTx/>
              <a:latin typeface="Times New Roman"/>
            </a:endParaRPr>
          </a:p>
        </p:txBody>
      </p:sp>
      <p:sp>
        <p:nvSpPr>
          <p:cNvPr id="5" name="Rectangle 6"/>
          <p:cNvSpPr/>
          <p:nvPr/>
        </p:nvSpPr>
        <p:spPr>
          <a:xfrm>
            <a:off x="0" y="0"/>
            <a:ext cx="12192120" cy="241200"/>
          </a:xfrm>
          <a:prstGeom prst="rect">
            <a:avLst/>
          </a:prstGeom>
          <a:solidFill>
            <a:srgbClr val="5B9BD5"/>
          </a:solidFill>
          <a:ln w="12600">
            <a:solidFill>
              <a:srgbClr val="41719C"/>
            </a:solidFill>
            <a:miter/>
          </a:ln>
        </p:spPr>
        <p:style>
          <a:lnRef idx="0">
            <a:scrgbClr r="0" g="0" b="0"/>
          </a:lnRef>
          <a:fillRef idx="0">
            <a:scrgbClr r="0" g="0" b="0"/>
          </a:fillRef>
          <a:effectRef idx="0">
            <a:scrgbClr r="0" g="0" b="0"/>
          </a:effectRef>
          <a:fontRef idx="minor"/>
        </p:style>
        <p:txBody>
          <a:bodyPr lIns="90000" tIns="46800" rIns="90000" bIns="46800" anchor="ctr">
            <a:noAutofit/>
          </a:bodyPr>
          <a:lstStyle/>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6" name="Rectangle 7"/>
          <p:cNvSpPr/>
          <p:nvPr/>
        </p:nvSpPr>
        <p:spPr>
          <a:xfrm>
            <a:off x="0" y="6553080"/>
            <a:ext cx="12192120" cy="314280"/>
          </a:xfrm>
          <a:prstGeom prst="rect">
            <a:avLst/>
          </a:prstGeom>
          <a:solidFill>
            <a:srgbClr val="5B9BD5"/>
          </a:solidFill>
          <a:ln w="12600">
            <a:solidFill>
              <a:srgbClr val="FFD966"/>
            </a:solidFill>
            <a:miter/>
          </a:ln>
        </p:spPr>
        <p:style>
          <a:lnRef idx="0">
            <a:scrgbClr r="0" g="0" b="0"/>
          </a:lnRef>
          <a:fillRef idx="0">
            <a:scrgbClr r="0" g="0" b="0"/>
          </a:fillRef>
          <a:effectRef idx="0">
            <a:scrgbClr r="0" g="0" b="0"/>
          </a:effectRef>
          <a:fontRef idx="minor"/>
        </p:style>
        <p:txBody>
          <a:bodyPr lIns="90000" tIns="46800" rIns="90000" bIns="46800" anchor="ctr">
            <a:noAutofit/>
          </a:bodyPr>
          <a:lstStyle/>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1800" b="0" u="none" strike="noStrike">
                <a:solidFill>
                  <a:srgbClr val="000000"/>
                </a:solidFill>
                <a:effectLst/>
                <a:uFillTx/>
                <a:latin typeface="Calibri"/>
              </a:rPr>
              <a:t>MRCET | Department of Emerging Technologies | Application Development-II PPT| III Year B.Tech-II Semester</a:t>
            </a:r>
            <a:endParaRPr lang="en-US" sz="1800" b="0" u="none" strike="noStrike">
              <a:solidFill>
                <a:srgbClr val="000000"/>
              </a:solidFill>
              <a:effectLst/>
              <a:uFillTx/>
              <a:latin typeface="Calibri"/>
            </a:endParaRPr>
          </a:p>
        </p:txBody>
      </p:sp>
      <p:pic>
        <p:nvPicPr>
          <p:cNvPr id="7" name="Picture 8"/>
          <p:cNvPicPr/>
          <p:nvPr/>
        </p:nvPicPr>
        <p:blipFill>
          <a:blip r:embed="rId2"/>
          <a:stretch/>
        </p:blipFill>
        <p:spPr>
          <a:xfrm>
            <a:off x="11353680" y="0"/>
            <a:ext cx="822600" cy="822240"/>
          </a:xfrm>
          <a:prstGeom prst="rect">
            <a:avLst/>
          </a:prstGeom>
          <a:noFill/>
          <a:ln w="0">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Title1">
    <p:bg>
      <p:bgPr>
        <a:solidFill>
          <a:srgbClr val="FFFFFF"/>
        </a:solidFill>
        <a:effectLst/>
      </p:bgPr>
    </p:bg>
    <p:spTree>
      <p:nvGrpSpPr>
        <p:cNvPr id="1" name=""/>
        <p:cNvGrpSpPr/>
        <p:nvPr/>
      </p:nvGrpSpPr>
      <p:grpSpPr>
        <a:xfrm>
          <a:off x="0" y="0"/>
          <a:ext cx="0" cy="0"/>
          <a:chOff x="0" y="0"/>
          <a:chExt cx="0" cy="0"/>
        </a:xfrm>
      </p:grpSpPr>
      <p:sp>
        <p:nvSpPr>
          <p:cNvPr id="8" name="Rectangle 6"/>
          <p:cNvSpPr/>
          <p:nvPr/>
        </p:nvSpPr>
        <p:spPr>
          <a:xfrm>
            <a:off x="0" y="0"/>
            <a:ext cx="12192120" cy="241200"/>
          </a:xfrm>
          <a:prstGeom prst="rect">
            <a:avLst/>
          </a:prstGeom>
          <a:solidFill>
            <a:srgbClr val="5B9BD5"/>
          </a:solidFill>
          <a:ln w="12600">
            <a:solidFill>
              <a:srgbClr val="41719C"/>
            </a:solidFill>
            <a:miter/>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9" name="Rectangle 7"/>
          <p:cNvSpPr/>
          <p:nvPr/>
        </p:nvSpPr>
        <p:spPr>
          <a:xfrm>
            <a:off x="0" y="6553080"/>
            <a:ext cx="12192120" cy="314280"/>
          </a:xfrm>
          <a:prstGeom prst="rect">
            <a:avLst/>
          </a:prstGeom>
          <a:solidFill>
            <a:srgbClr val="5B9BD5"/>
          </a:solidFill>
          <a:ln w="12600">
            <a:solidFill>
              <a:srgbClr val="FFD966"/>
            </a:solidFill>
            <a:miter/>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1800" b="0" u="none" strike="noStrike">
                <a:solidFill>
                  <a:srgbClr val="000000"/>
                </a:solidFill>
                <a:effectLst/>
                <a:uFillTx/>
                <a:latin typeface="Calibri"/>
              </a:rPr>
              <a:t>MRCET | Department of Emerging Technologies | Application Development-II PPT| III Year B.Tech-II Semester</a:t>
            </a:r>
            <a:endParaRPr lang="en-US" sz="1800" b="0" u="none" strike="noStrike">
              <a:solidFill>
                <a:srgbClr val="000000"/>
              </a:solidFill>
              <a:effectLst/>
              <a:uFillTx/>
              <a:latin typeface="Calibri"/>
            </a:endParaRPr>
          </a:p>
        </p:txBody>
      </p:sp>
      <p:pic>
        <p:nvPicPr>
          <p:cNvPr id="10" name="Picture 8"/>
          <p:cNvPicPr/>
          <p:nvPr/>
        </p:nvPicPr>
        <p:blipFill>
          <a:blip r:embed="rId2"/>
          <a:stretch/>
        </p:blipFill>
        <p:spPr>
          <a:xfrm>
            <a:off x="11353680" y="0"/>
            <a:ext cx="822600" cy="822240"/>
          </a:xfrm>
          <a:prstGeom prst="rect">
            <a:avLst/>
          </a:prstGeom>
          <a:noFill/>
          <a:ln w="0">
            <a:noFill/>
          </a:ln>
        </p:spPr>
      </p:pic>
      <p:sp>
        <p:nvSpPr>
          <p:cNvPr id="11" name="Rectangle 1"/>
          <p:cNvSpPr/>
          <p:nvPr/>
        </p:nvSpPr>
        <p:spPr>
          <a:xfrm>
            <a:off x="0" y="0"/>
            <a:ext cx="12192120" cy="241200"/>
          </a:xfrm>
          <a:prstGeom prst="rect">
            <a:avLst/>
          </a:prstGeom>
          <a:solidFill>
            <a:srgbClr val="5B9BD5"/>
          </a:solidFill>
          <a:ln w="12600">
            <a:solidFill>
              <a:srgbClr val="41719C"/>
            </a:solidFill>
            <a:miter/>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2" name="Rectangle 2"/>
          <p:cNvSpPr/>
          <p:nvPr/>
        </p:nvSpPr>
        <p:spPr>
          <a:xfrm>
            <a:off x="0" y="6553080"/>
            <a:ext cx="12192120" cy="314280"/>
          </a:xfrm>
          <a:prstGeom prst="rect">
            <a:avLst/>
          </a:prstGeom>
          <a:solidFill>
            <a:srgbClr val="5B9BD5"/>
          </a:solidFill>
          <a:ln w="12600">
            <a:solidFill>
              <a:srgbClr val="FFD966"/>
            </a:solidFill>
            <a:miter/>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1800" b="0" u="none" strike="noStrike">
                <a:solidFill>
                  <a:srgbClr val="000000"/>
                </a:solidFill>
                <a:effectLst/>
                <a:uFillTx/>
                <a:latin typeface="Calibri"/>
              </a:rPr>
              <a:t>MRCET | Department of Emerging Technologies | Application Development-II PPT| III Year B.Tech-II Semester</a:t>
            </a:r>
            <a:endParaRPr lang="en-US" sz="1800" b="0" u="none" strike="noStrike">
              <a:solidFill>
                <a:srgbClr val="000000"/>
              </a:solidFill>
              <a:effectLst/>
              <a:uFillTx/>
              <a:latin typeface="Calibri"/>
            </a:endParaRPr>
          </a:p>
        </p:txBody>
      </p:sp>
      <p:pic>
        <p:nvPicPr>
          <p:cNvPr id="13" name="Picture 11"/>
          <p:cNvPicPr/>
          <p:nvPr/>
        </p:nvPicPr>
        <p:blipFill>
          <a:blip r:embed="rId2"/>
          <a:stretch/>
        </p:blipFill>
        <p:spPr>
          <a:xfrm>
            <a:off x="11353680" y="0"/>
            <a:ext cx="822600" cy="822240"/>
          </a:xfrm>
          <a:prstGeom prst="rect">
            <a:avLst/>
          </a:prstGeom>
          <a:noFill/>
          <a:ln w="0">
            <a:noFill/>
          </a:ln>
        </p:spPr>
      </p:pic>
      <p:sp>
        <p:nvSpPr>
          <p:cNvPr id="14" name="PlaceHolder 1"/>
          <p:cNvSpPr>
            <a:spLocks noGrp="1"/>
          </p:cNvSpPr>
          <p:nvPr>
            <p:ph type="title"/>
          </p:nvPr>
        </p:nvSpPr>
        <p:spPr>
          <a:xfrm>
            <a:off x="838080" y="365040"/>
            <a:ext cx="10515600" cy="1325520"/>
          </a:xfrm>
          <a:prstGeom prst="rect">
            <a:avLst/>
          </a:prstGeom>
          <a:noFill/>
          <a:ln w="0">
            <a:noFill/>
          </a:ln>
        </p:spPr>
        <p:txBody>
          <a:bodyPr lIns="90000" tIns="46800" rIns="90000" bIns="4680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000000"/>
                </a:solidFill>
                <a:effectLst/>
                <a:uFillTx/>
                <a:latin typeface="Calibri Light"/>
              </a:rPr>
              <a:t>Click to edit the title text format</a:t>
            </a:r>
          </a:p>
        </p:txBody>
      </p:sp>
      <p:sp>
        <p:nvSpPr>
          <p:cNvPr id="15" name="PlaceHolder 2"/>
          <p:cNvSpPr>
            <a:spLocks noGrp="1"/>
          </p:cNvSpPr>
          <p:nvPr>
            <p:ph type="body"/>
          </p:nvPr>
        </p:nvSpPr>
        <p:spPr>
          <a:xfrm>
            <a:off x="838080" y="1825200"/>
            <a:ext cx="10515600" cy="4351320"/>
          </a:xfrm>
          <a:prstGeom prst="rect">
            <a:avLst/>
          </a:prstGeom>
          <a:noFill/>
          <a:ln w="0">
            <a:noFill/>
          </a:ln>
        </p:spPr>
        <p:txBody>
          <a:bodyPr lIns="90000" tIns="46800" rIns="90000" bIns="46800" anchor="t">
            <a:normAutofit/>
          </a:bodyPr>
          <a:lstStyle/>
          <a:p>
            <a:pPr marL="228600"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a:rPr>
              <a:t>Click to edit the outline text format</a:t>
            </a:r>
          </a:p>
          <a:p>
            <a:pPr marL="685800" lvl="1"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a:rPr>
              <a:t>Second Outline Level</a:t>
            </a:r>
          </a:p>
          <a:p>
            <a:pPr marL="1143000" lvl="2"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a:rPr>
              <a:t>Third Outline Level</a:t>
            </a:r>
          </a:p>
          <a:p>
            <a:pPr marL="1600200" lvl="3"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a:rPr>
              <a:t>Fourth Outline Level</a:t>
            </a:r>
          </a:p>
          <a:p>
            <a:pPr marL="2057400" lvl="4"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a:rPr>
              <a:t>Fifth Outline Level</a:t>
            </a:r>
          </a:p>
          <a:p>
            <a:pPr marL="2057400" lvl="5"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a:rPr>
              <a:t>Sixth Outline Level</a:t>
            </a:r>
          </a:p>
          <a:p>
            <a:pPr marL="2057400" lvl="6"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a:rPr>
              <a:t>Seventh Outline Level</a:t>
            </a:r>
          </a:p>
        </p:txBody>
      </p:sp>
      <p:sp>
        <p:nvSpPr>
          <p:cNvPr id="16" name="PlaceHolder 3"/>
          <p:cNvSpPr>
            <a:spLocks noGrp="1"/>
          </p:cNvSpPr>
          <p:nvPr>
            <p:ph type="dt" idx="4"/>
          </p:nvPr>
        </p:nvSpPr>
        <p:spPr>
          <a:xfrm>
            <a:off x="838080" y="6356520"/>
            <a:ext cx="2743200" cy="365040"/>
          </a:xfrm>
          <a:prstGeom prst="rect">
            <a:avLst/>
          </a:prstGeom>
          <a:noFill/>
          <a:ln w="0">
            <a:noFill/>
          </a:ln>
        </p:spPr>
        <p:txBody>
          <a:bodyPr lIns="90000" tIns="46800" rIns="90000" bIns="46800" anchor="ctr">
            <a:noAutofit/>
          </a:bodyPr>
          <a:lstStyle>
            <a:lvl1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IN" sz="1200" b="0" u="none" strike="noStrike">
                <a:solidFill>
                  <a:srgbClr val="898989"/>
                </a:solidFill>
                <a:effectLst/>
                <a:uFillTx/>
                <a:latin typeface="Times New Roman"/>
              </a:defRPr>
            </a:lvl1p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ED45DFE9-98DA-49D7-8174-04D2103B504F}" type="datetime">
              <a:rPr lang="en-IN" sz="1200" b="0" u="none" strike="noStrike">
                <a:solidFill>
                  <a:srgbClr val="898989"/>
                </a:solidFill>
                <a:effectLst/>
                <a:uFillTx/>
                <a:latin typeface="Times New Roman"/>
              </a:rPr>
              <a:t>29-09-2026</a:t>
            </a:fld>
            <a:endParaRPr lang="en-US" sz="1200" b="0" u="none" strike="noStrike">
              <a:solidFill>
                <a:srgbClr val="000000"/>
              </a:solidFill>
              <a:effectLst/>
              <a:uFillTx/>
              <a:latin typeface="Times New Roman"/>
            </a:endParaRPr>
          </a:p>
        </p:txBody>
      </p:sp>
      <p:sp>
        <p:nvSpPr>
          <p:cNvPr id="17" name="PlaceHolder 4"/>
          <p:cNvSpPr>
            <a:spLocks noGrp="1"/>
          </p:cNvSpPr>
          <p:nvPr>
            <p:ph type="ftr" idx="5"/>
          </p:nvPr>
        </p:nvSpPr>
        <p:spPr>
          <a:xfrm>
            <a:off x="4038480" y="6356520"/>
            <a:ext cx="4114800" cy="365040"/>
          </a:xfrm>
          <a:prstGeom prst="rect">
            <a:avLst/>
          </a:prstGeom>
          <a:noFill/>
          <a:ln w="0">
            <a:noFill/>
          </a:ln>
        </p:spPr>
        <p:txBody>
          <a:bodyPr lIns="90000" tIns="46800" rIns="90000" bIns="46800" anchor="ctr">
            <a:noAutofit/>
          </a:body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18" name="PlaceHolder 5"/>
          <p:cNvSpPr>
            <a:spLocks noGrp="1"/>
          </p:cNvSpPr>
          <p:nvPr>
            <p:ph type="sldNum" idx="6"/>
          </p:nvPr>
        </p:nvSpPr>
        <p:spPr>
          <a:xfrm>
            <a:off x="9067680" y="6176880"/>
            <a:ext cx="2743200" cy="365040"/>
          </a:xfrm>
          <a:prstGeom prst="rect">
            <a:avLst/>
          </a:prstGeom>
          <a:noFill/>
          <a:ln w="0">
            <a:noFill/>
          </a:ln>
        </p:spPr>
        <p:txBody>
          <a:bodyPr lIns="90000" tIns="46800" rIns="90000" bIns="46800" anchor="ctr">
            <a:noAutofit/>
          </a:bodyPr>
          <a:lstStyle>
            <a:lvl1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IN" sz="1200" b="1" u="none" strike="noStrike">
                <a:solidFill>
                  <a:srgbClr val="C00000"/>
                </a:solidFill>
                <a:effectLst/>
                <a:uFillTx/>
                <a:latin typeface="Times New Roman"/>
              </a:defRPr>
            </a:lvl1pPr>
          </a:lstStyle>
          <a:p>
            <a: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24FE772-8025-4826-A6C5-ED6C71806220}" type="slidenum">
              <a:rPr lang="en-IN" sz="1200" b="1" u="none" strike="noStrike">
                <a:solidFill>
                  <a:srgbClr val="C00000"/>
                </a:solidFill>
                <a:effectLst/>
                <a:uFillTx/>
                <a:latin typeface="Times New Roman"/>
              </a:rPr>
              <a:t>‹#›</a:t>
            </a:fld>
            <a:endParaRPr lang="en-US"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1708200" y="420840"/>
            <a:ext cx="9191520" cy="1015920"/>
          </a:xfrm>
          <a:prstGeom prst="rect">
            <a:avLst/>
          </a:prstGeom>
          <a:noFill/>
          <a:ln w="0">
            <a:noFill/>
          </a:ln>
        </p:spPr>
        <p:txBody>
          <a:bodyPr lIns="90000" tIns="46800" rIns="90000" bIns="46800" anchor="b">
            <a:sp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IN" sz="2000" b="1" u="none" strike="noStrike">
              <a:solidFill>
                <a:srgbClr val="000000"/>
              </a:solidFill>
              <a:effectLst/>
              <a:uFillTx/>
              <a:latin typeface="Calibri"/>
            </a:endParaRPr>
          </a:p>
        </p:txBody>
      </p:sp>
      <p:sp>
        <p:nvSpPr>
          <p:cNvPr id="20" name="Slide Number Placeholder 3"/>
          <p:cNvSpPr/>
          <p:nvPr/>
        </p:nvSpPr>
        <p:spPr>
          <a:xfrm>
            <a:off x="9067680" y="617688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BEF48F5-F561-427F-8C2B-AB8A94BC42E4}" type="slidenum">
              <a:rPr lang="en-IN" sz="1200" b="1" u="none" strike="noStrike">
                <a:solidFill>
                  <a:srgbClr val="C00000"/>
                </a:solidFill>
                <a:effectLst/>
                <a:uFillTx/>
                <a:latin typeface="Calibri"/>
              </a:rPr>
              <a:t>1</a:t>
            </a:fld>
            <a:endParaRPr lang="en-US" sz="1200" b="0" u="none" strike="noStrike">
              <a:solidFill>
                <a:srgbClr val="000000"/>
              </a:solidFill>
              <a:effectLst/>
              <a:uFillTx/>
              <a:latin typeface="Calibri"/>
            </a:endParaRPr>
          </a:p>
        </p:txBody>
      </p:sp>
      <p:sp>
        <p:nvSpPr>
          <p:cNvPr id="21" name="Rounded Rectangle 4"/>
          <p:cNvSpPr/>
          <p:nvPr/>
        </p:nvSpPr>
        <p:spPr>
          <a:xfrm>
            <a:off x="0" y="6477120"/>
            <a:ext cx="12192120" cy="393480"/>
          </a:xfrm>
          <a:prstGeom prst="rect">
            <a:avLst/>
          </a:prstGeom>
          <a:solidFill>
            <a:srgbClr val="5B9BD5"/>
          </a:solidFill>
          <a:ln w="12600">
            <a:solidFill>
              <a:srgbClr val="41719C"/>
            </a:solidFill>
            <a:miter/>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1600" b="1" u="none" strike="noStrike">
                <a:solidFill>
                  <a:srgbClr val="000000"/>
                </a:solidFill>
                <a:effectLst/>
                <a:uFillTx/>
                <a:latin typeface="Arial Rounded MT Bold"/>
              </a:rPr>
              <a:t>B.Tech II  Year – I Sem | Dept of CS&amp;IT | Project Review</a:t>
            </a:r>
            <a:endParaRPr lang="en-US" sz="1600" b="0" u="none" strike="noStrike">
              <a:solidFill>
                <a:srgbClr val="000000"/>
              </a:solidFill>
              <a:effectLst/>
              <a:uFillTx/>
              <a:latin typeface="Calibri"/>
            </a:endParaRPr>
          </a:p>
        </p:txBody>
      </p:sp>
      <p:sp>
        <p:nvSpPr>
          <p:cNvPr id="22" name="Rounded Rectangle 4"/>
          <p:cNvSpPr/>
          <p:nvPr/>
        </p:nvSpPr>
        <p:spPr>
          <a:xfrm>
            <a:off x="-15840" y="-128520"/>
            <a:ext cx="12207960" cy="393480"/>
          </a:xfrm>
          <a:prstGeom prst="rect">
            <a:avLst/>
          </a:prstGeom>
          <a:solidFill>
            <a:srgbClr val="5B9BD5"/>
          </a:solidFill>
          <a:ln w="12600">
            <a:solidFill>
              <a:srgbClr val="41719C"/>
            </a:solidFill>
            <a:miter/>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3" name="Rectangle 7"/>
          <p:cNvSpPr/>
          <p:nvPr/>
        </p:nvSpPr>
        <p:spPr>
          <a:xfrm>
            <a:off x="11261880" y="270000"/>
            <a:ext cx="914400" cy="550800"/>
          </a:xfrm>
          <a:prstGeom prst="rect">
            <a:avLst/>
          </a:prstGeom>
          <a:solidFill>
            <a:srgbClr val="FFFFFF"/>
          </a:solidFill>
          <a:ln w="12600">
            <a:solidFill>
              <a:srgbClr val="FFFFFF"/>
            </a:solidFill>
            <a:miter/>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24" name="PlaceHolder 2"/>
          <p:cNvSpPr>
            <a:spLocks noGrp="1"/>
          </p:cNvSpPr>
          <p:nvPr>
            <p:ph type="subTitle"/>
          </p:nvPr>
        </p:nvSpPr>
        <p:spPr>
          <a:xfrm>
            <a:off x="1611360" y="1939680"/>
            <a:ext cx="9385200" cy="4653000"/>
          </a:xfrm>
          <a:prstGeom prst="rect">
            <a:avLst/>
          </a:prstGeom>
          <a:noFill/>
          <a:ln w="0">
            <a:noFill/>
          </a:ln>
        </p:spPr>
        <p:txBody>
          <a:bodyPr lIns="91440" tIns="45720" rIns="91440" bIns="45720" anchor="t">
            <a:noAutofit/>
          </a:bodyPr>
          <a:lstStyle/>
          <a:p>
            <a:pPr algn="ctr">
              <a:lnSpc>
                <a:spcPct val="90000"/>
              </a:lnSpc>
              <a:spcBef>
                <a:spcPts val="100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1" u="none" strike="noStrike">
                <a:solidFill>
                  <a:srgbClr val="000000"/>
                </a:solidFill>
                <a:effectLst/>
                <a:uFillTx/>
                <a:latin typeface="Calibri"/>
                <a:ea typeface="Calibri"/>
              </a:rPr>
              <a:t>Event Management Mobile app for attendee self-service</a:t>
            </a:r>
            <a:endParaRPr lang="en-US" sz="3200" b="0" u="none" strike="noStrike">
              <a:solidFill>
                <a:srgbClr val="000000"/>
              </a:solidFill>
              <a:effectLst/>
              <a:uFillTx/>
              <a:latin typeface="Calibri"/>
            </a:endParaRPr>
          </a:p>
          <a:p>
            <a:pPr algn="ctr">
              <a:lnSpc>
                <a:spcPct val="90000"/>
              </a:lnSpc>
              <a:spcBef>
                <a:spcPts val="100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2400" b="1" u="none" strike="noStrike">
                <a:solidFill>
                  <a:srgbClr val="000000"/>
                </a:solidFill>
                <a:effectLst/>
                <a:uFillTx/>
                <a:latin typeface="Calibri"/>
              </a:rPr>
              <a:t>Team Members Details</a:t>
            </a:r>
            <a:endParaRPr lang="en-US" sz="2400" b="0" u="none" strike="noStrike">
              <a:solidFill>
                <a:srgbClr val="000000"/>
              </a:solidFill>
              <a:effectLst/>
              <a:uFillTx/>
              <a:latin typeface="Calibri"/>
            </a:endParaRPr>
          </a:p>
          <a:p>
            <a:pPr algn="ctr">
              <a:lnSpc>
                <a:spcPct val="50000"/>
              </a:lnSpc>
              <a:spcBef>
                <a:spcPts val="100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Calibri"/>
              </a:rPr>
              <a:t>     1.Pardhu.S</a:t>
            </a:r>
            <a:r>
              <a:rPr lang="en-IN" sz="2400" b="1" u="none" strike="noStrike">
                <a:solidFill>
                  <a:srgbClr val="000000"/>
                </a:solidFill>
                <a:effectLst/>
                <a:uFillTx/>
                <a:latin typeface="Calibri"/>
              </a:rPr>
              <a:t> – 2520090043</a:t>
            </a:r>
            <a:endParaRPr lang="en-US" sz="2400" b="0" u="none" strike="noStrike">
              <a:solidFill>
                <a:srgbClr val="000000"/>
              </a:solidFill>
              <a:effectLst/>
              <a:uFillTx/>
              <a:latin typeface="Calibri"/>
            </a:endParaRPr>
          </a:p>
          <a:p>
            <a:pPr algn="ctr">
              <a:lnSpc>
                <a:spcPct val="50000"/>
              </a:lnSpc>
              <a:spcBef>
                <a:spcPts val="100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Calibri"/>
              </a:rPr>
              <a:t>               2.U.Shiva Reddy – 2520090172</a:t>
            </a:r>
            <a:endParaRPr lang="en-US" sz="2400" b="0" u="none" strike="noStrike">
              <a:solidFill>
                <a:srgbClr val="000000"/>
              </a:solidFill>
              <a:effectLst/>
              <a:uFillTx/>
              <a:latin typeface="Calibri"/>
            </a:endParaRPr>
          </a:p>
          <a:p>
            <a:pPr algn="ctr">
              <a:lnSpc>
                <a:spcPct val="50000"/>
              </a:lnSpc>
              <a:spcBef>
                <a:spcPts val="100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Calibri"/>
              </a:rPr>
              <a:t>3.G.Teja</a:t>
            </a:r>
            <a:r>
              <a:rPr lang="en-IN" sz="2400" b="1" u="none" strike="noStrike">
                <a:solidFill>
                  <a:srgbClr val="000000"/>
                </a:solidFill>
                <a:effectLst/>
                <a:uFillTx/>
                <a:latin typeface="Calibri"/>
              </a:rPr>
              <a:t>–   2520090162</a:t>
            </a:r>
            <a:endParaRPr lang="en-US" sz="2400" b="0" u="none" strike="noStrike">
              <a:solidFill>
                <a:srgbClr val="000000"/>
              </a:solidFill>
              <a:effectLst/>
              <a:uFillTx/>
              <a:latin typeface="Calibri"/>
            </a:endParaRPr>
          </a:p>
          <a:p>
            <a:pPr algn="ctr">
              <a:lnSpc>
                <a:spcPct val="90000"/>
              </a:lnSpc>
              <a:spcBef>
                <a:spcPts val="100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2400" b="0" u="none" strike="noStrike">
                <a:solidFill>
                  <a:srgbClr val="000000"/>
                </a:solidFill>
                <a:effectLst/>
                <a:uFillTx/>
                <a:latin typeface="Calibri"/>
              </a:rPr>
              <a:t>II Year B.Tech-I Semester – CSIT</a:t>
            </a:r>
            <a:endParaRPr lang="en-US" sz="2400" b="0" u="none" strike="noStrike">
              <a:solidFill>
                <a:srgbClr val="000000"/>
              </a:solidFill>
              <a:effectLst/>
              <a:uFillTx/>
              <a:latin typeface="Calibri"/>
            </a:endParaRPr>
          </a:p>
          <a:p>
            <a:pPr algn="ctr">
              <a:lnSpc>
                <a:spcPct val="90000"/>
              </a:lnSpc>
              <a:spcBef>
                <a:spcPts val="100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Calibri"/>
            </a:endParaRPr>
          </a:p>
          <a:p>
            <a:pPr algn="ctr">
              <a:lnSpc>
                <a:spcPct val="50000"/>
              </a:lnSpc>
              <a:spcBef>
                <a:spcPts val="100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Calibri"/>
              </a:rPr>
              <a:t>Under the Guidance of </a:t>
            </a:r>
            <a:endParaRPr lang="en-US" sz="2400" b="0" u="none" strike="noStrike">
              <a:solidFill>
                <a:srgbClr val="000000"/>
              </a:solidFill>
              <a:effectLst/>
              <a:uFillTx/>
              <a:latin typeface="Calibri"/>
            </a:endParaRPr>
          </a:p>
          <a:p>
            <a:pPr algn="ctr">
              <a:lnSpc>
                <a:spcPct val="50000"/>
              </a:lnSpc>
              <a:spcBef>
                <a:spcPts val="100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Calibri"/>
              </a:rPr>
              <a:t>Dr.M Gayatri</a:t>
            </a:r>
            <a:endParaRPr lang="en-US" sz="2400" b="0" u="none" strike="noStrike">
              <a:solidFill>
                <a:srgbClr val="000000"/>
              </a:solidFill>
              <a:effectLst/>
              <a:uFillTx/>
              <a:latin typeface="Calibri"/>
            </a:endParaRPr>
          </a:p>
          <a:p>
            <a:pPr algn="ctr">
              <a:lnSpc>
                <a:spcPct val="50000"/>
              </a:lnSpc>
              <a:spcBef>
                <a:spcPts val="100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Calibri"/>
              </a:rPr>
              <a:t>Associate </a:t>
            </a:r>
            <a:r>
              <a:rPr lang="en-IN" sz="2400" b="0" u="none" strike="noStrike">
                <a:solidFill>
                  <a:srgbClr val="000000"/>
                </a:solidFill>
                <a:effectLst/>
                <a:uFillTx/>
                <a:latin typeface="Calibri"/>
              </a:rPr>
              <a:t>Professor </a:t>
            </a:r>
            <a:endParaRPr lang="en-US" sz="2400" b="0" u="none" strike="noStrike">
              <a:solidFill>
                <a:srgbClr val="000000"/>
              </a:solidFill>
              <a:effectLst/>
              <a:uFillTx/>
              <a:latin typeface="Calibri"/>
            </a:endParaRPr>
          </a:p>
        </p:txBody>
      </p:sp>
      <p:pic>
        <p:nvPicPr>
          <p:cNvPr id="25" name="Picture 1"/>
          <p:cNvPicPr/>
          <p:nvPr/>
        </p:nvPicPr>
        <p:blipFill>
          <a:blip r:embed="rId2"/>
          <a:stretch/>
        </p:blipFill>
        <p:spPr>
          <a:xfrm>
            <a:off x="2192400" y="595440"/>
            <a:ext cx="8805960" cy="666720"/>
          </a:xfrm>
          <a:prstGeom prst="rect">
            <a:avLst/>
          </a:prstGeom>
          <a:noFill/>
          <a:ln w="0">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29760"/>
            <a:ext cx="10515600" cy="568440"/>
          </a:xfrm>
          <a:prstGeom prst="rect">
            <a:avLst/>
          </a:prstGeom>
          <a:noFill/>
          <a:ln w="0">
            <a:noFill/>
          </a:ln>
        </p:spPr>
        <p:txBody>
          <a:bodyPr lIns="91440" tIns="45720" rIns="91440" bIns="4572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br>
              <a:rPr sz="4400"/>
            </a:br>
            <a:r>
              <a:rPr lang="en-IN" sz="4400" b="1" u="none" strike="noStrike">
                <a:solidFill>
                  <a:srgbClr val="000000"/>
                </a:solidFill>
                <a:effectLst/>
                <a:uFillTx/>
                <a:latin typeface="Times New Roman"/>
                <a:ea typeface="Times New Roman"/>
              </a:rPr>
              <a:t>Agenda</a:t>
            </a:r>
            <a:endParaRPr lang="en-US" sz="4400" b="0" u="none" strike="noStrike">
              <a:solidFill>
                <a:srgbClr val="000000"/>
              </a:solidFill>
              <a:effectLst/>
              <a:uFillTx/>
              <a:latin typeface="Calibri Light"/>
            </a:endParaRPr>
          </a:p>
        </p:txBody>
      </p:sp>
      <p:sp>
        <p:nvSpPr>
          <p:cNvPr id="27" name="TextBox 26"/>
          <p:cNvSpPr txBox="1"/>
          <p:nvPr/>
        </p:nvSpPr>
        <p:spPr>
          <a:xfrm>
            <a:off x="776160" y="898200"/>
            <a:ext cx="10406160" cy="5349960"/>
          </a:xfrm>
          <a:prstGeom prst="rect">
            <a:avLst/>
          </a:prstGeom>
          <a:noFill/>
          <a:ln w="0">
            <a:noFill/>
          </a:ln>
        </p:spPr>
        <p:txBody>
          <a:bodyPr anchor="t">
            <a:normAutofit/>
          </a:bodyPr>
          <a:lstStyle/>
          <a:p>
            <a:pPr marL="228600"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Calibri"/>
            </a:endParaRPr>
          </a:p>
          <a:p>
            <a:pPr marL="228600"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imes New Roman"/>
              </a:rPr>
              <a:t>Abstract</a:t>
            </a:r>
            <a:endParaRPr lang="en-US" sz="2400" b="0" u="none" strike="noStrike">
              <a:solidFill>
                <a:srgbClr val="000000"/>
              </a:solidFill>
              <a:effectLst/>
              <a:uFillTx/>
              <a:latin typeface="Calibri"/>
            </a:endParaRPr>
          </a:p>
          <a:p>
            <a:pPr marL="228600"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imes New Roman"/>
              </a:rPr>
              <a:t>Introduction</a:t>
            </a:r>
            <a:endParaRPr lang="en-US" sz="2400" b="0" u="none" strike="noStrike">
              <a:solidFill>
                <a:srgbClr val="000000"/>
              </a:solidFill>
              <a:effectLst/>
              <a:uFillTx/>
              <a:latin typeface="Calibri"/>
            </a:endParaRPr>
          </a:p>
          <a:p>
            <a:pPr marL="228600"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imes New Roman"/>
              </a:rPr>
              <a:t>Existing System</a:t>
            </a:r>
            <a:endParaRPr lang="en-US" sz="2400" b="0" u="none" strike="noStrike">
              <a:solidFill>
                <a:srgbClr val="000000"/>
              </a:solidFill>
              <a:effectLst/>
              <a:uFillTx/>
              <a:latin typeface="Calibri"/>
            </a:endParaRPr>
          </a:p>
          <a:p>
            <a:pPr marL="228600"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imes New Roman"/>
              </a:rPr>
              <a:t>Proposed System</a:t>
            </a:r>
            <a:endParaRPr lang="en-US" sz="2400" b="0" u="none" strike="noStrike">
              <a:solidFill>
                <a:srgbClr val="000000"/>
              </a:solidFill>
              <a:effectLst/>
              <a:uFillTx/>
              <a:latin typeface="Calibri"/>
            </a:endParaRPr>
          </a:p>
          <a:p>
            <a:pPr marL="228600"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imes New Roman"/>
              </a:rPr>
              <a:t>System Architecture</a:t>
            </a:r>
            <a:endParaRPr lang="en-US" sz="2400" b="0" u="none" strike="noStrike">
              <a:solidFill>
                <a:srgbClr val="000000"/>
              </a:solidFill>
              <a:effectLst/>
              <a:uFillTx/>
              <a:latin typeface="Calibri"/>
            </a:endParaRPr>
          </a:p>
          <a:p>
            <a:pPr marL="228600"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imes New Roman"/>
              </a:rPr>
              <a:t>Requirements Specifications</a:t>
            </a:r>
            <a:endParaRPr lang="en-US" sz="2400" b="0" u="none" strike="noStrike">
              <a:solidFill>
                <a:srgbClr val="000000"/>
              </a:solidFill>
              <a:effectLst/>
              <a:uFillTx/>
              <a:latin typeface="Calibri"/>
            </a:endParaRPr>
          </a:p>
          <a:p>
            <a:pPr marL="228600"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imes New Roman"/>
              </a:rPr>
              <a:t>System Models</a:t>
            </a:r>
            <a:endParaRPr lang="en-US" sz="2400" b="0" u="none" strike="noStrike">
              <a:solidFill>
                <a:srgbClr val="000000"/>
              </a:solidFill>
              <a:effectLst/>
              <a:uFillTx/>
              <a:latin typeface="Calibri"/>
            </a:endParaRPr>
          </a:p>
          <a:p>
            <a:pPr marL="228600"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imes New Roman"/>
              </a:rPr>
              <a:t>Conclusion</a:t>
            </a:r>
            <a:endParaRPr lang="en-US" sz="2400" b="0" u="none" strike="noStrike">
              <a:solidFill>
                <a:srgbClr val="000000"/>
              </a:solidFill>
              <a:effectLst/>
              <a:uFillTx/>
              <a:latin typeface="Calibri"/>
            </a:endParaRPr>
          </a:p>
          <a:p>
            <a:pPr marL="228600"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Calibri"/>
            </a:endParaRPr>
          </a:p>
          <a:p>
            <a:pPr marL="228600"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Calibri"/>
            </a:endParaRPr>
          </a:p>
          <a:p>
            <a:pPr marL="228600"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0" u="none" strike="noStrike">
              <a:solidFill>
                <a:srgbClr val="000000"/>
              </a:solidFill>
              <a:effectLst/>
              <a:uFillTx/>
              <a:latin typeface="Calibri"/>
            </a:endParaRPr>
          </a:p>
          <a:p>
            <a:pPr marL="228600"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0" u="none" strike="noStrike">
              <a:solidFill>
                <a:srgbClr val="000000"/>
              </a:solidFill>
              <a:effectLst/>
              <a:uFillTx/>
              <a:latin typeface="Calibri"/>
            </a:endParaRPr>
          </a:p>
          <a:p>
            <a:pPr marL="228600"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0" u="none" strike="noStrike">
              <a:solidFill>
                <a:srgbClr val="000000"/>
              </a:solidFill>
              <a:effectLst/>
              <a:uFillTx/>
              <a:latin typeface="Calibri"/>
            </a:endParaRPr>
          </a:p>
          <a:p>
            <a:pPr marL="228600"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0" u="none" strike="noStrike">
              <a:solidFill>
                <a:srgbClr val="000000"/>
              </a:solidFill>
              <a:effectLst/>
              <a:uFillTx/>
              <a:latin typeface="Calibri"/>
            </a:endParaRPr>
          </a:p>
          <a:p>
            <a:pPr marL="228600"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0" u="none" strike="noStrike">
              <a:solidFill>
                <a:srgbClr val="000000"/>
              </a:solidFill>
              <a:effectLst/>
              <a:uFillTx/>
              <a:latin typeface="Calibri"/>
            </a:endParaRPr>
          </a:p>
        </p:txBody>
      </p:sp>
      <p:sp>
        <p:nvSpPr>
          <p:cNvPr id="28" name="Slide Number Placeholder 2"/>
          <p:cNvSpPr/>
          <p:nvPr/>
        </p:nvSpPr>
        <p:spPr>
          <a:xfrm>
            <a:off x="9067680" y="617688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1E10315C-1B7B-4A1E-8F48-564B3BDCF15D}" type="slidenum">
              <a:rPr lang="en-IN" sz="1200" b="1" u="none" strike="noStrike">
                <a:solidFill>
                  <a:srgbClr val="C00000"/>
                </a:solidFill>
                <a:effectLst/>
                <a:uFillTx/>
                <a:latin typeface="Calibri"/>
              </a:rPr>
              <a:t>2</a:t>
            </a:fld>
            <a:endParaRPr lang="en-US" sz="1200" b="0" u="none" strike="noStrike">
              <a:solidFill>
                <a:srgbClr val="000000"/>
              </a:solidFill>
              <a:effectLst/>
              <a:uFillTx/>
              <a:latin typeface="Calibri"/>
            </a:endParaRPr>
          </a:p>
        </p:txBody>
      </p:sp>
      <p:pic>
        <p:nvPicPr>
          <p:cNvPr id="29" name="Picture 5"/>
          <p:cNvPicPr/>
          <p:nvPr/>
        </p:nvPicPr>
        <p:blipFill>
          <a:blip r:embed="rId2"/>
          <a:stretch/>
        </p:blipFill>
        <p:spPr>
          <a:xfrm>
            <a:off x="11290320" y="0"/>
            <a:ext cx="901800" cy="993600"/>
          </a:xfrm>
          <a:prstGeom prst="rect">
            <a:avLst/>
          </a:prstGeom>
          <a:noFill/>
          <a:ln w="0">
            <a:noFill/>
          </a:ln>
        </p:spPr>
      </p:pic>
      <p:sp>
        <p:nvSpPr>
          <p:cNvPr id="30" name="Rounded Rectangle 4"/>
          <p:cNvSpPr/>
          <p:nvPr/>
        </p:nvSpPr>
        <p:spPr>
          <a:xfrm>
            <a:off x="-15840" y="-109440"/>
            <a:ext cx="12207960" cy="393480"/>
          </a:xfrm>
          <a:prstGeom prst="rect">
            <a:avLst/>
          </a:prstGeom>
          <a:solidFill>
            <a:srgbClr val="5B9BD5"/>
          </a:solidFill>
          <a:ln w="12600">
            <a:solidFill>
              <a:srgbClr val="41719C"/>
            </a:solidFill>
            <a:miter/>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1" name="Rectangle 4"/>
          <p:cNvSpPr/>
          <p:nvPr/>
        </p:nvSpPr>
        <p:spPr>
          <a:xfrm>
            <a:off x="11261880" y="270000"/>
            <a:ext cx="914400" cy="723600"/>
          </a:xfrm>
          <a:prstGeom prst="rect">
            <a:avLst/>
          </a:prstGeom>
          <a:solidFill>
            <a:srgbClr val="FFFFFF"/>
          </a:solidFill>
          <a:ln w="12600">
            <a:solidFill>
              <a:srgbClr val="FFFFFF"/>
            </a:solidFill>
            <a:miter/>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Calibri"/>
            </a:endParaRPr>
          </a:p>
        </p:txBody>
      </p:sp>
      <p:sp>
        <p:nvSpPr>
          <p:cNvPr id="32" name="Rounded Rectangle 4"/>
          <p:cNvSpPr/>
          <p:nvPr/>
        </p:nvSpPr>
        <p:spPr>
          <a:xfrm>
            <a:off x="0" y="6477120"/>
            <a:ext cx="12192120" cy="393480"/>
          </a:xfrm>
          <a:prstGeom prst="rect">
            <a:avLst/>
          </a:prstGeom>
          <a:solidFill>
            <a:srgbClr val="5B9BD5"/>
          </a:solidFill>
          <a:ln w="12600">
            <a:solidFill>
              <a:srgbClr val="41719C"/>
            </a:solidFill>
            <a:miter/>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1600" b="1" u="none" strike="noStrike">
                <a:solidFill>
                  <a:srgbClr val="000000"/>
                </a:solidFill>
                <a:effectLst/>
                <a:uFillTx/>
                <a:latin typeface="Arial Rounded MT Bold"/>
              </a:rPr>
              <a:t>B.Tech III Year – II Sem | Dept of Computational Intelligence| Application Development – II | Project Review</a:t>
            </a:r>
            <a:endParaRPr lang="en-US" sz="1600" b="0" u="none" strike="noStrike">
              <a:solidFill>
                <a:srgbClr val="000000"/>
              </a:solidFill>
              <a:effectLst/>
              <a:uFillTx/>
              <a:latin typeface="Calibri"/>
            </a:endParaRPr>
          </a:p>
        </p:txBody>
      </p:sp>
      <p:pic>
        <p:nvPicPr>
          <p:cNvPr id="33" name="Picture 7"/>
          <p:cNvPicPr/>
          <p:nvPr/>
        </p:nvPicPr>
        <p:blipFill>
          <a:blip r:embed="rId3"/>
          <a:stretch/>
        </p:blipFill>
        <p:spPr>
          <a:xfrm>
            <a:off x="10493280" y="0"/>
            <a:ext cx="1467000" cy="898560"/>
          </a:xfrm>
          <a:prstGeom prst="rect">
            <a:avLst/>
          </a:prstGeom>
          <a:noFill/>
          <a:ln w="0">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482760"/>
            <a:ext cx="10515600" cy="598320"/>
          </a:xfrm>
          <a:prstGeom prst="rect">
            <a:avLst/>
          </a:prstGeom>
          <a:noFill/>
          <a:ln w="0">
            <a:noFill/>
          </a:ln>
        </p:spPr>
        <p:txBody>
          <a:bodyPr lIns="91440" tIns="45720" rIns="91440" bIns="4572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4400" b="1" u="none" strike="noStrike">
                <a:solidFill>
                  <a:srgbClr val="000000"/>
                </a:solidFill>
                <a:effectLst/>
                <a:uFillTx/>
                <a:latin typeface="Times New Roman"/>
                <a:ea typeface="Times New Roman"/>
              </a:rPr>
              <a:t>Abstract</a:t>
            </a:r>
            <a:endParaRPr lang="en-US" sz="4400" b="0" u="none" strike="noStrike">
              <a:solidFill>
                <a:srgbClr val="000000"/>
              </a:solidFill>
              <a:effectLst/>
              <a:uFillTx/>
              <a:latin typeface="Calibri Light"/>
            </a:endParaRPr>
          </a:p>
        </p:txBody>
      </p:sp>
      <p:sp>
        <p:nvSpPr>
          <p:cNvPr id="35" name="TextBox 34"/>
          <p:cNvSpPr txBox="1"/>
          <p:nvPr/>
        </p:nvSpPr>
        <p:spPr>
          <a:xfrm>
            <a:off x="838080" y="1080720"/>
            <a:ext cx="10515600" cy="5095800"/>
          </a:xfrm>
          <a:prstGeom prst="rect">
            <a:avLst/>
          </a:prstGeom>
          <a:noFill/>
          <a:ln w="0">
            <a:noFill/>
          </a:ln>
        </p:spPr>
        <p:txBody>
          <a:bodyPr wrap="square" anchor="t">
            <a:normAutofit/>
          </a:bodyPr>
          <a:lstStyle/>
          <a:p>
            <a:pPr>
              <a:lnSpc>
                <a:spcPct val="90000"/>
              </a:lnSpc>
              <a:spcBef>
                <a:spcPts val="100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dirty="0"/>
              <a:t>The </a:t>
            </a:r>
            <a:r>
              <a:rPr lang="en-GB" sz="2000" b="1" dirty="0"/>
              <a:t>Event Management Mobile App for Attendee Self-Service</a:t>
            </a:r>
            <a:r>
              <a:rPr lang="en-GB" sz="2000" dirty="0"/>
              <a:t> is a database-driven mobile application designed to simplify event management and improve the attendee experience. The application provides a self-service platform where attendees can create an account, log in securely, browse available events, and view event details. Users can register for events, view dates, venues, schedules, and session information. They can also manage their registrations and check their event history through the application. The system provides notifications for important event updates and can maintain digital attendance and check-in information. Attendees can submit feedback and ratings after participating in an event. The database stores important information such as attendee profiles, events, sessions, registrations, attendance, and feedback. Primary keys and foreign keys are used to maintain relationships and data consistency between tables. Organizers can manage events, sessions, registrations, and attendee information through the system. Overall, the application reduces manual work, improves data accuracy, provides quick access to information, and offers an efficient solution for modern event management.</a:t>
            </a:r>
            <a:endParaRPr lang="en-GB" sz="2000" b="0" u="none" strike="noStrike" dirty="0">
              <a:solidFill>
                <a:srgbClr val="000000"/>
              </a:solidFill>
              <a:effectLst/>
              <a:uFillTx/>
              <a:latin typeface="Calibri"/>
            </a:endParaRPr>
          </a:p>
        </p:txBody>
      </p:sp>
      <p:sp>
        <p:nvSpPr>
          <p:cNvPr id="36" name="Slide Number Placeholder 2"/>
          <p:cNvSpPr/>
          <p:nvPr/>
        </p:nvSpPr>
        <p:spPr>
          <a:xfrm>
            <a:off x="9067680" y="617688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1600B15E-0EE8-4737-93BC-8826A15EB1A8}" type="slidenum">
              <a:rPr lang="en-IN" sz="1200" b="1" u="none" strike="noStrike">
                <a:solidFill>
                  <a:srgbClr val="C00000"/>
                </a:solidFill>
                <a:effectLst/>
                <a:uFillTx/>
                <a:latin typeface="Calibri"/>
              </a:rPr>
              <a:t>3</a:t>
            </a:fld>
            <a:endParaRPr lang="en-US" sz="1200" b="0" u="none" strike="noStrike">
              <a:solidFill>
                <a:srgbClr val="000000"/>
              </a:solidFill>
              <a:effectLst/>
              <a:uFillTx/>
              <a:latin typeface="Calibri"/>
            </a:endParaRPr>
          </a:p>
        </p:txBody>
      </p:sp>
      <p:sp>
        <p:nvSpPr>
          <p:cNvPr id="37" name="Rounded Rectangle 4"/>
          <p:cNvSpPr/>
          <p:nvPr/>
        </p:nvSpPr>
        <p:spPr>
          <a:xfrm>
            <a:off x="0" y="6477120"/>
            <a:ext cx="12192120" cy="393480"/>
          </a:xfrm>
          <a:prstGeom prst="rect">
            <a:avLst/>
          </a:prstGeom>
          <a:solidFill>
            <a:srgbClr val="5B9BD5"/>
          </a:solidFill>
          <a:ln w="12600">
            <a:solidFill>
              <a:srgbClr val="41719C"/>
            </a:solidFill>
            <a:miter/>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1600" b="1" u="none" strike="noStrike">
                <a:solidFill>
                  <a:srgbClr val="000000"/>
                </a:solidFill>
                <a:effectLst/>
                <a:uFillTx/>
                <a:latin typeface="Arial Rounded MT Bold"/>
              </a:rPr>
              <a:t>B.Tech III Year – II Sem | Dept of Computational Intelligence| Application Development – II | Project Review</a:t>
            </a:r>
            <a:endParaRPr lang="en-US" sz="1600" b="0" u="none" strike="noStrike">
              <a:solidFill>
                <a:srgbClr val="000000"/>
              </a:solidFill>
              <a:effectLst/>
              <a:uFillTx/>
              <a:latin typeface="Calibri"/>
            </a:endParaRPr>
          </a:p>
        </p:txBody>
      </p:sp>
      <p:pic>
        <p:nvPicPr>
          <p:cNvPr id="38" name="Picture 7"/>
          <p:cNvPicPr/>
          <p:nvPr/>
        </p:nvPicPr>
        <p:blipFill>
          <a:blip r:embed="rId2"/>
          <a:stretch/>
        </p:blipFill>
        <p:spPr>
          <a:xfrm>
            <a:off x="10493280" y="0"/>
            <a:ext cx="1865520" cy="898560"/>
          </a:xfrm>
          <a:prstGeom prst="rect">
            <a:avLst/>
          </a:prstGeom>
          <a:noFill/>
          <a:ln w="0">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 name="PlaceHolder 1"/>
          <p:cNvSpPr>
            <a:spLocks noGrp="1"/>
          </p:cNvSpPr>
          <p:nvPr>
            <p:ph type="title"/>
          </p:nvPr>
        </p:nvSpPr>
        <p:spPr>
          <a:xfrm>
            <a:off x="838080" y="457200"/>
            <a:ext cx="10515600" cy="649440"/>
          </a:xfrm>
          <a:prstGeom prst="rect">
            <a:avLst/>
          </a:prstGeom>
          <a:noFill/>
          <a:ln w="0">
            <a:noFill/>
          </a:ln>
        </p:spPr>
        <p:txBody>
          <a:bodyPr lIns="91440" tIns="45720" rIns="91440" bIns="4572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4400" b="1" u="none" strike="noStrike" dirty="0">
                <a:solidFill>
                  <a:srgbClr val="000000"/>
                </a:solidFill>
                <a:effectLst/>
                <a:uFillTx/>
                <a:latin typeface="Times New Roman"/>
                <a:ea typeface="Times New Roman"/>
              </a:rPr>
              <a:t>Introduction</a:t>
            </a:r>
            <a:endParaRPr lang="en-US" sz="4400" b="0" u="none" strike="noStrike" dirty="0">
              <a:solidFill>
                <a:srgbClr val="000000"/>
              </a:solidFill>
              <a:effectLst/>
              <a:uFillTx/>
              <a:latin typeface="Calibri Light"/>
            </a:endParaRPr>
          </a:p>
        </p:txBody>
      </p:sp>
      <p:sp>
        <p:nvSpPr>
          <p:cNvPr id="40" name="TextBox 39"/>
          <p:cNvSpPr txBox="1"/>
          <p:nvPr/>
        </p:nvSpPr>
        <p:spPr>
          <a:xfrm>
            <a:off x="838080" y="1106640"/>
            <a:ext cx="10515600" cy="5070240"/>
          </a:xfrm>
          <a:prstGeom prst="rect">
            <a:avLst/>
          </a:prstGeom>
          <a:noFill/>
          <a:ln w="0">
            <a:noFill/>
          </a:ln>
        </p:spPr>
        <p:txBody>
          <a:bodyPr wrap="square" anchor="t">
            <a:normAutofit fontScale="70000" lnSpcReduction="20000"/>
          </a:bodyPr>
          <a:lstStyle/>
          <a:p>
            <a:r>
              <a:rPr lang="en-GB" sz="3100" dirty="0"/>
              <a:t>Event management involves several activities such as event registration, attendee management, scheduling, attendance tracking, communication, and feedback collection. In traditional systems, these activities are often handled manually using paper forms, spreadsheets, emails, or different applications. This can lead to duplicate records, delays in updating information, and difficulty for attendees in accessing the latest event details.</a:t>
            </a:r>
          </a:p>
          <a:p>
            <a:endParaRPr lang="en-GB" sz="3100" dirty="0"/>
          </a:p>
          <a:p>
            <a:r>
              <a:rPr lang="en-GB" sz="3100" dirty="0"/>
              <a:t>The </a:t>
            </a:r>
            <a:r>
              <a:rPr lang="en-GB" sz="3100" b="1" dirty="0"/>
              <a:t>Event Management Mobile App for Attendee Self-Service</a:t>
            </a:r>
            <a:r>
              <a:rPr lang="en-GB" sz="3100" dirty="0"/>
              <a:t> provides a single mobile platform to overcome these limitations. Attendees can create an account, log in, browse available events, view event dates and venues, check session schedules, register for events, and manage their registrations. They can also receive important announcements and provide feedback after attending an event.</a:t>
            </a:r>
          </a:p>
          <a:p>
            <a:endParaRPr lang="en-GB" sz="3100" dirty="0"/>
          </a:p>
          <a:p>
            <a:r>
              <a:rPr lang="en-GB" sz="3100" dirty="0"/>
              <a:t>The application uses a </a:t>
            </a:r>
            <a:r>
              <a:rPr lang="en-GB" sz="3100" b="1" dirty="0"/>
              <a:t>centralized database</a:t>
            </a:r>
            <a:r>
              <a:rPr lang="en-GB" sz="3100" dirty="0"/>
              <a:t> to store attendee profiles, event details, sessions, registrations, attendance records, notifications, and feedback. Database relationships using primary and foreign keys help maintain data consistency and reduce duplication. Organizers can manage events, update schedules, monitor registrations, and access attendee information efficiently.</a:t>
            </a:r>
          </a:p>
          <a:p>
            <a:pPr algn="l">
              <a:lnSpc>
                <a:spcPct val="90000"/>
              </a:lnSpc>
              <a:spcBef>
                <a:spcPts val="1001"/>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800" b="0" u="none" strike="noStrike" dirty="0">
              <a:solidFill>
                <a:srgbClr val="000000"/>
              </a:solidFill>
              <a:effectLst/>
              <a:uFillTx/>
              <a:latin typeface="Calibri"/>
            </a:endParaRPr>
          </a:p>
        </p:txBody>
      </p:sp>
      <p:sp>
        <p:nvSpPr>
          <p:cNvPr id="41" name="Slide Number Placeholder 2"/>
          <p:cNvSpPr/>
          <p:nvPr/>
        </p:nvSpPr>
        <p:spPr>
          <a:xfrm>
            <a:off x="9321840" y="628020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8143B85F-B47C-43AD-AC0E-A722D2753A6D}" type="slidenum">
              <a:rPr lang="en-IN" sz="1200" b="1" u="none" strike="noStrike">
                <a:solidFill>
                  <a:srgbClr val="C00000"/>
                </a:solidFill>
                <a:effectLst/>
                <a:uFillTx/>
                <a:latin typeface="Calibri"/>
              </a:rPr>
              <a:t>4</a:t>
            </a:fld>
            <a:endParaRPr lang="en-US" sz="1200" b="0" u="none" strike="noStrike">
              <a:solidFill>
                <a:srgbClr val="000000"/>
              </a:solidFill>
              <a:effectLst/>
              <a:uFillTx/>
              <a:latin typeface="Calibri"/>
            </a:endParaRPr>
          </a:p>
        </p:txBody>
      </p:sp>
      <p:sp>
        <p:nvSpPr>
          <p:cNvPr id="42" name="Rounded Rectangle 4"/>
          <p:cNvSpPr/>
          <p:nvPr/>
        </p:nvSpPr>
        <p:spPr>
          <a:xfrm>
            <a:off x="0" y="6477120"/>
            <a:ext cx="12192120" cy="393480"/>
          </a:xfrm>
          <a:prstGeom prst="rect">
            <a:avLst/>
          </a:prstGeom>
          <a:solidFill>
            <a:srgbClr val="5B9BD5"/>
          </a:solidFill>
          <a:ln w="12600">
            <a:solidFill>
              <a:srgbClr val="41719C"/>
            </a:solidFill>
            <a:miter/>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1600" b="1" u="none" strike="noStrike">
                <a:solidFill>
                  <a:srgbClr val="000000"/>
                </a:solidFill>
                <a:effectLst/>
                <a:uFillTx/>
                <a:latin typeface="Arial Rounded MT Bold"/>
              </a:rPr>
              <a:t>B.Tech III Year – II Sem | Dept of | Application Development – II | Project Review</a:t>
            </a:r>
            <a:endParaRPr lang="en-US" sz="1600" b="0" u="none" strike="noStrike">
              <a:solidFill>
                <a:srgbClr val="000000"/>
              </a:solidFill>
              <a:effectLst/>
              <a:uFillTx/>
              <a:latin typeface="Calibri"/>
            </a:endParaRPr>
          </a:p>
        </p:txBody>
      </p:sp>
      <p:pic>
        <p:nvPicPr>
          <p:cNvPr id="43" name="Picture 8"/>
          <p:cNvPicPr/>
          <p:nvPr/>
        </p:nvPicPr>
        <p:blipFill>
          <a:blip r:embed="rId2"/>
          <a:stretch/>
        </p:blipFill>
        <p:spPr>
          <a:xfrm>
            <a:off x="10328068" y="15377"/>
            <a:ext cx="1865520" cy="898560"/>
          </a:xfrm>
          <a:prstGeom prst="rect">
            <a:avLst/>
          </a:prstGeom>
          <a:noFill/>
          <a:ln w="0">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 name="PlaceHolder 1"/>
          <p:cNvSpPr>
            <a:spLocks noGrp="1"/>
          </p:cNvSpPr>
          <p:nvPr>
            <p:ph type="title"/>
          </p:nvPr>
        </p:nvSpPr>
        <p:spPr>
          <a:xfrm>
            <a:off x="838080" y="365040"/>
            <a:ext cx="10515600" cy="1325520"/>
          </a:xfrm>
          <a:prstGeom prst="rect">
            <a:avLst/>
          </a:prstGeom>
          <a:noFill/>
          <a:ln w="0">
            <a:noFill/>
          </a:ln>
        </p:spPr>
        <p:txBody>
          <a:bodyPr lIns="91440" tIns="45720" rIns="91440" bIns="4572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4400" b="0" u="none" strike="noStrike">
                <a:solidFill>
                  <a:srgbClr val="000000"/>
                </a:solidFill>
                <a:effectLst/>
                <a:uFillTx/>
                <a:latin typeface="Calibri Light"/>
              </a:rPr>
              <a:t>Existing system</a:t>
            </a:r>
            <a:endParaRPr lang="en-US" sz="4400" b="0" u="none" strike="noStrike">
              <a:solidFill>
                <a:srgbClr val="000000"/>
              </a:solidFill>
              <a:effectLst/>
              <a:uFillTx/>
              <a:latin typeface="Calibri Light"/>
            </a:endParaRPr>
          </a:p>
        </p:txBody>
      </p:sp>
      <p:sp>
        <p:nvSpPr>
          <p:cNvPr id="46" name="TextBox 45"/>
          <p:cNvSpPr txBox="1"/>
          <p:nvPr/>
        </p:nvSpPr>
        <p:spPr>
          <a:xfrm>
            <a:off x="960120" y="1600200"/>
            <a:ext cx="10058400" cy="4251960"/>
          </a:xfrm>
          <a:prstGeom prst="rect">
            <a:avLst/>
          </a:prstGeom>
          <a:noFill/>
        </p:spPr>
        <p:txBody>
          <a:bodyPr wrap="square" lIns="73152" tIns="27432" rIns="45720">
            <a:spAutoFit/>
          </a:bodyPr>
          <a:lstStyle/>
          <a:p>
            <a:pPr>
              <a:spcAft>
                <a:spcPts val="800"/>
              </a:spcAft>
              <a:defRPr sz="1800">
                <a:solidFill>
                  <a:srgbClr val="282828"/>
                </a:solidFill>
              </a:defRPr>
            </a:pPr>
            <a:r>
              <a:rPr>
                <a:solidFill>
                  <a:srgbClr val="000000"/>
                </a:solidFill>
              </a:rPr>
              <a:t>• Event registration may depend on paper forms, spreadsheets, or separate online tools.</a:t>
            </a:r>
          </a:p>
          <a:p>
            <a:pPr>
              <a:spcAft>
                <a:spcPts val="800"/>
              </a:spcAft>
              <a:defRPr sz="1800">
                <a:solidFill>
                  <a:srgbClr val="282828"/>
                </a:solidFill>
              </a:defRPr>
            </a:pPr>
            <a:r>
              <a:rPr>
                <a:solidFill>
                  <a:srgbClr val="000000"/>
                </a:solidFill>
              </a:rPr>
              <a:t>• Attendees often rely on organizers for schedules, venue information, and announcements.</a:t>
            </a:r>
          </a:p>
          <a:p>
            <a:pPr>
              <a:spcAft>
                <a:spcPts val="800"/>
              </a:spcAft>
              <a:defRPr sz="1800">
                <a:solidFill>
                  <a:srgbClr val="282828"/>
                </a:solidFill>
              </a:defRPr>
            </a:pPr>
            <a:r>
              <a:rPr>
                <a:solidFill>
                  <a:srgbClr val="000000"/>
                </a:solidFill>
              </a:rPr>
              <a:t>• Attendance and registration records can require manual updating and verification.</a:t>
            </a:r>
          </a:p>
          <a:p>
            <a:pPr>
              <a:spcAft>
                <a:spcPts val="800"/>
              </a:spcAft>
              <a:defRPr sz="1800">
                <a:solidFill>
                  <a:srgbClr val="282828"/>
                </a:solidFill>
              </a:defRPr>
            </a:pPr>
            <a:r>
              <a:rPr>
                <a:solidFill>
                  <a:srgbClr val="000000"/>
                </a:solidFill>
              </a:rPr>
              <a:t>• Changes to event schedules may not reach all attendees immediately.</a:t>
            </a:r>
          </a:p>
          <a:p>
            <a:pPr>
              <a:spcAft>
                <a:spcPts val="800"/>
              </a:spcAft>
              <a:defRPr sz="1800">
                <a:solidFill>
                  <a:srgbClr val="282828"/>
                </a:solidFill>
              </a:defRPr>
            </a:pPr>
            <a:r>
              <a:rPr>
                <a:solidFill>
                  <a:srgbClr val="000000"/>
                </a:solidFill>
              </a:rPr>
              <a:t>• Feedback collection and attendee history are difficult to manage in disconnected systems.</a:t>
            </a:r>
          </a:p>
          <a:p>
            <a:pPr>
              <a:spcAft>
                <a:spcPts val="800"/>
              </a:spcAft>
              <a:defRPr sz="1800">
                <a:solidFill>
                  <a:srgbClr val="282828"/>
                </a:solidFill>
              </a:defRPr>
            </a:pPr>
            <a:r>
              <a:rPr>
                <a:solidFill>
                  <a:srgbClr val="000000"/>
                </a:solidFill>
              </a:rPr>
              <a:t>• Duplicate data and manual entry can lead to errors and inefficient reporting.</a:t>
            </a:r>
          </a:p>
        </p:txBody>
      </p:sp>
      <p:pic>
        <p:nvPicPr>
          <p:cNvPr id="3" name="Picture 8">
            <a:extLst>
              <a:ext uri="{FF2B5EF4-FFF2-40B4-BE49-F238E27FC236}">
                <a16:creationId xmlns:a16="http://schemas.microsoft.com/office/drawing/2014/main" id="{165CB861-FC0B-907A-2614-31482774EC49}"/>
              </a:ext>
            </a:extLst>
          </p:cNvPr>
          <p:cNvPicPr/>
          <p:nvPr/>
        </p:nvPicPr>
        <p:blipFill>
          <a:blip r:embed="rId2"/>
          <a:stretch/>
        </p:blipFill>
        <p:spPr>
          <a:xfrm>
            <a:off x="10328068" y="26263"/>
            <a:ext cx="1865520" cy="898560"/>
          </a:xfrm>
          <a:prstGeom prst="rect">
            <a:avLst/>
          </a:prstGeom>
          <a:noFill/>
          <a:ln w="0">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838080" y="365040"/>
            <a:ext cx="10515600" cy="1325520"/>
          </a:xfrm>
          <a:prstGeom prst="rect">
            <a:avLst/>
          </a:prstGeom>
          <a:noFill/>
          <a:ln w="0">
            <a:noFill/>
          </a:ln>
        </p:spPr>
        <p:txBody>
          <a:bodyPr lIns="91440" tIns="45720" rIns="91440" bIns="4572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4400" b="0" u="none" strike="noStrike">
                <a:solidFill>
                  <a:srgbClr val="000000"/>
                </a:solidFill>
                <a:effectLst/>
                <a:uFillTx/>
                <a:latin typeface="Calibri Light"/>
              </a:rPr>
              <a:t>Proposed system</a:t>
            </a:r>
            <a:endParaRPr lang="en-US" sz="4400" b="0" u="none" strike="noStrike">
              <a:solidFill>
                <a:srgbClr val="000000"/>
              </a:solidFill>
              <a:effectLst/>
              <a:uFillTx/>
              <a:latin typeface="Calibri Light"/>
            </a:endParaRPr>
          </a:p>
        </p:txBody>
      </p:sp>
      <p:sp>
        <p:nvSpPr>
          <p:cNvPr id="48" name="TextBox 47"/>
          <p:cNvSpPr txBox="1"/>
          <p:nvPr/>
        </p:nvSpPr>
        <p:spPr>
          <a:xfrm>
            <a:off x="716400" y="1599660"/>
            <a:ext cx="5074920" cy="4480560"/>
          </a:xfrm>
          <a:prstGeom prst="rect">
            <a:avLst/>
          </a:prstGeom>
          <a:noFill/>
        </p:spPr>
        <p:txBody>
          <a:bodyPr wrap="square" lIns="73152" tIns="27432" rIns="45720">
            <a:spAutoFit/>
          </a:bodyPr>
          <a:lstStyle/>
          <a:p>
            <a:pPr>
              <a:spcAft>
                <a:spcPts val="800"/>
              </a:spcAft>
              <a:defRPr sz="1700">
                <a:solidFill>
                  <a:srgbClr val="282828"/>
                </a:solidFill>
              </a:defRPr>
            </a:pPr>
            <a:r>
              <a:rPr dirty="0">
                <a:solidFill>
                  <a:srgbClr val="000000"/>
                </a:solidFill>
              </a:rPr>
              <a:t>• Mobile self-service interface for attendee registration and event discovery.</a:t>
            </a:r>
          </a:p>
          <a:p>
            <a:pPr>
              <a:spcAft>
                <a:spcPts val="800"/>
              </a:spcAft>
              <a:defRPr sz="1700">
                <a:solidFill>
                  <a:srgbClr val="282828"/>
                </a:solidFill>
              </a:defRPr>
            </a:pPr>
            <a:r>
              <a:rPr dirty="0">
                <a:solidFill>
                  <a:srgbClr val="000000"/>
                </a:solidFill>
              </a:rPr>
              <a:t>• Central database for attendee, event, session, registration, and feedback records.</a:t>
            </a:r>
          </a:p>
          <a:p>
            <a:pPr>
              <a:spcAft>
                <a:spcPts val="800"/>
              </a:spcAft>
              <a:defRPr sz="1700">
                <a:solidFill>
                  <a:srgbClr val="282828"/>
                </a:solidFill>
              </a:defRPr>
            </a:pPr>
            <a:r>
              <a:rPr dirty="0">
                <a:solidFill>
                  <a:srgbClr val="000000"/>
                </a:solidFill>
              </a:rPr>
              <a:t>• Personalized dashboard showing registered events and upcoming sessions.</a:t>
            </a:r>
          </a:p>
          <a:p>
            <a:pPr>
              <a:spcAft>
                <a:spcPts val="800"/>
              </a:spcAft>
              <a:defRPr sz="1700">
                <a:solidFill>
                  <a:srgbClr val="282828"/>
                </a:solidFill>
              </a:defRPr>
            </a:pPr>
            <a:r>
              <a:rPr dirty="0">
                <a:solidFill>
                  <a:srgbClr val="000000"/>
                </a:solidFill>
              </a:rPr>
              <a:t>• Digital check-in/attendance status and registration history.</a:t>
            </a:r>
          </a:p>
        </p:txBody>
      </p:sp>
      <p:sp>
        <p:nvSpPr>
          <p:cNvPr id="49" name="TextBox 48"/>
          <p:cNvSpPr txBox="1"/>
          <p:nvPr/>
        </p:nvSpPr>
        <p:spPr>
          <a:xfrm>
            <a:off x="6080760" y="1508760"/>
            <a:ext cx="4983480" cy="4480560"/>
          </a:xfrm>
          <a:prstGeom prst="rect">
            <a:avLst/>
          </a:prstGeom>
          <a:noFill/>
        </p:spPr>
        <p:txBody>
          <a:bodyPr wrap="square" lIns="73152" tIns="27432" rIns="45720">
            <a:spAutoFit/>
          </a:bodyPr>
          <a:lstStyle/>
          <a:p>
            <a:pPr>
              <a:spcAft>
                <a:spcPts val="800"/>
              </a:spcAft>
              <a:defRPr sz="1700">
                <a:solidFill>
                  <a:srgbClr val="282828"/>
                </a:solidFill>
              </a:defRPr>
            </a:pPr>
            <a:r>
              <a:rPr>
                <a:solidFill>
                  <a:srgbClr val="000000"/>
                </a:solidFill>
              </a:rPr>
              <a:t>• Instant event announcements and schedule updates.</a:t>
            </a:r>
          </a:p>
          <a:p>
            <a:pPr>
              <a:spcAft>
                <a:spcPts val="800"/>
              </a:spcAft>
              <a:defRPr sz="1700">
                <a:solidFill>
                  <a:srgbClr val="282828"/>
                </a:solidFill>
              </a:defRPr>
            </a:pPr>
            <a:r>
              <a:rPr>
                <a:solidFill>
                  <a:srgbClr val="000000"/>
                </a:solidFill>
              </a:rPr>
              <a:t>• Search and filter events or sessions by date, category, and venue.</a:t>
            </a:r>
          </a:p>
          <a:p>
            <a:pPr>
              <a:spcAft>
                <a:spcPts val="800"/>
              </a:spcAft>
              <a:defRPr sz="1700">
                <a:solidFill>
                  <a:srgbClr val="282828"/>
                </a:solidFill>
              </a:defRPr>
            </a:pPr>
            <a:r>
              <a:rPr>
                <a:solidFill>
                  <a:srgbClr val="000000"/>
                </a:solidFill>
              </a:rPr>
              <a:t>• Feedback and rating module after sessions or events.</a:t>
            </a:r>
          </a:p>
          <a:p>
            <a:pPr>
              <a:spcAft>
                <a:spcPts val="800"/>
              </a:spcAft>
              <a:defRPr sz="1700">
                <a:solidFill>
                  <a:srgbClr val="282828"/>
                </a:solidFill>
              </a:defRPr>
            </a:pPr>
            <a:r>
              <a:rPr>
                <a:solidFill>
                  <a:srgbClr val="000000"/>
                </a:solidFill>
              </a:rPr>
              <a:t>• Organizer/admin functions for managing events and viewing reports.</a:t>
            </a:r>
          </a:p>
        </p:txBody>
      </p:sp>
      <p:pic>
        <p:nvPicPr>
          <p:cNvPr id="3" name="Picture 8">
            <a:extLst>
              <a:ext uri="{FF2B5EF4-FFF2-40B4-BE49-F238E27FC236}">
                <a16:creationId xmlns:a16="http://schemas.microsoft.com/office/drawing/2014/main" id="{0F78515A-BB1F-5AB6-C5D3-325640F52D93}"/>
              </a:ext>
            </a:extLst>
          </p:cNvPr>
          <p:cNvPicPr/>
          <p:nvPr/>
        </p:nvPicPr>
        <p:blipFill>
          <a:blip r:embed="rId2"/>
          <a:stretch/>
        </p:blipFill>
        <p:spPr>
          <a:xfrm>
            <a:off x="10328068" y="15377"/>
            <a:ext cx="1865520" cy="898560"/>
          </a:xfrm>
          <a:prstGeom prst="rect">
            <a:avLst/>
          </a:prstGeom>
          <a:noFill/>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838080" y="365040"/>
            <a:ext cx="10515600" cy="1325520"/>
          </a:xfrm>
          <a:prstGeom prst="rect">
            <a:avLst/>
          </a:prstGeom>
          <a:noFill/>
          <a:ln w="0">
            <a:noFill/>
          </a:ln>
        </p:spPr>
        <p:txBody>
          <a:bodyPr lIns="91440" tIns="45720" rIns="91440" bIns="4572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4400" b="0" u="none" strike="noStrike">
                <a:solidFill>
                  <a:srgbClr val="000000"/>
                </a:solidFill>
                <a:effectLst/>
                <a:uFillTx/>
                <a:latin typeface="Calibri Light"/>
              </a:rPr>
              <a:t>System architecture</a:t>
            </a:r>
            <a:endParaRPr lang="en-US" sz="4400" b="0" u="none" strike="noStrike">
              <a:solidFill>
                <a:srgbClr val="000000"/>
              </a:solidFill>
              <a:effectLst/>
              <a:uFillTx/>
              <a:latin typeface="Calibri Light"/>
            </a:endParaRPr>
          </a:p>
        </p:txBody>
      </p:sp>
      <p:sp>
        <p:nvSpPr>
          <p:cNvPr id="50" name="TextBox 49"/>
          <p:cNvSpPr txBox="1"/>
          <p:nvPr/>
        </p:nvSpPr>
        <p:spPr>
          <a:xfrm>
            <a:off x="914400" y="1417320"/>
            <a:ext cx="10332720" cy="411480"/>
          </a:xfrm>
          <a:prstGeom prst="rect">
            <a:avLst/>
          </a:prstGeom>
          <a:noFill/>
        </p:spPr>
        <p:txBody>
          <a:bodyPr wrap="square" lIns="45720" tIns="27432" rIns="45720" bIns="27432">
            <a:spAutoFit/>
          </a:bodyPr>
          <a:lstStyle/>
          <a:p>
            <a:pPr algn="ctr"/>
            <a:r>
              <a:rPr sz="1800" b="1">
                <a:solidFill>
                  <a:srgbClr val="000000"/>
                </a:solidFill>
              </a:rPr>
              <a:t>Three-layer architecture with a centralized relational database</a:t>
            </a:r>
          </a:p>
        </p:txBody>
      </p:sp>
      <p:sp>
        <p:nvSpPr>
          <p:cNvPr id="51" name="Rounded Rectangle 50"/>
          <p:cNvSpPr/>
          <p:nvPr/>
        </p:nvSpPr>
        <p:spPr>
          <a:xfrm>
            <a:off x="731520" y="1965960"/>
            <a:ext cx="2377440" cy="1234440"/>
          </a:xfrm>
          <a:prstGeom prst="roundRect">
            <a:avLst/>
          </a:prstGeom>
          <a:solidFill>
            <a:srgbClr val="FFFFFF"/>
          </a:solidFill>
          <a:ln w="15240">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000000"/>
                </a:solidFill>
              </a:rPr>
              <a:t>Attendee</a:t>
            </a:r>
          </a:p>
          <a:p>
            <a:pPr algn="ctr"/>
            <a:r>
              <a:rPr sz="1300">
                <a:solidFill>
                  <a:srgbClr val="000000"/>
                </a:solidFill>
              </a:rPr>
              <a:t>Login • Register
View events • Check-in</a:t>
            </a:r>
          </a:p>
        </p:txBody>
      </p:sp>
      <p:sp>
        <p:nvSpPr>
          <p:cNvPr id="52" name="Rounded Rectangle 51"/>
          <p:cNvSpPr/>
          <p:nvPr/>
        </p:nvSpPr>
        <p:spPr>
          <a:xfrm>
            <a:off x="3337560" y="1965960"/>
            <a:ext cx="2377440" cy="1234440"/>
          </a:xfrm>
          <a:prstGeom prst="roundRect">
            <a:avLst/>
          </a:prstGeom>
          <a:solidFill>
            <a:srgbClr val="FFFFFF"/>
          </a:solidFill>
          <a:ln w="15240">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000000"/>
                </a:solidFill>
              </a:rPr>
              <a:t>Mobile App</a:t>
            </a:r>
          </a:p>
          <a:p>
            <a:pPr algn="ctr"/>
            <a:r>
              <a:rPr sz="1300">
                <a:solidFill>
                  <a:srgbClr val="000000"/>
                </a:solidFill>
              </a:rPr>
              <a:t>UI • Navigation
Forms • Notifications</a:t>
            </a:r>
          </a:p>
        </p:txBody>
      </p:sp>
      <p:sp>
        <p:nvSpPr>
          <p:cNvPr id="53" name="Rounded Rectangle 52"/>
          <p:cNvSpPr/>
          <p:nvPr/>
        </p:nvSpPr>
        <p:spPr>
          <a:xfrm>
            <a:off x="5943600" y="1965960"/>
            <a:ext cx="2377440" cy="1234440"/>
          </a:xfrm>
          <a:prstGeom prst="roundRect">
            <a:avLst/>
          </a:prstGeom>
          <a:solidFill>
            <a:srgbClr val="FFFFFF"/>
          </a:solidFill>
          <a:ln w="15240">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000000"/>
                </a:solidFill>
              </a:rPr>
              <a:t>Backend / API</a:t>
            </a:r>
          </a:p>
          <a:p>
            <a:pPr algn="ctr"/>
            <a:r>
              <a:rPr sz="1300">
                <a:solidFill>
                  <a:srgbClr val="000000"/>
                </a:solidFill>
              </a:rPr>
              <a:t>Authentication
Business logic • CRUD</a:t>
            </a:r>
          </a:p>
        </p:txBody>
      </p:sp>
      <p:sp>
        <p:nvSpPr>
          <p:cNvPr id="54" name="Rounded Rectangle 53"/>
          <p:cNvSpPr/>
          <p:nvPr/>
        </p:nvSpPr>
        <p:spPr>
          <a:xfrm>
            <a:off x="8549640" y="1965960"/>
            <a:ext cx="2743200" cy="1234440"/>
          </a:xfrm>
          <a:prstGeom prst="roundRect">
            <a:avLst/>
          </a:prstGeom>
          <a:solidFill>
            <a:srgbClr val="FFFFFF"/>
          </a:solidFill>
          <a:ln w="15240">
            <a:solidFill>
              <a:srgbClr val="000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000000"/>
                </a:solidFill>
              </a:rPr>
              <a:t>Database</a:t>
            </a:r>
          </a:p>
          <a:p>
            <a:pPr algn="ctr"/>
            <a:r>
              <a:rPr sz="1200">
                <a:solidFill>
                  <a:srgbClr val="000000"/>
                </a:solidFill>
              </a:rPr>
              <a:t>Users • Events • Sessions
Registrations • Feedback</a:t>
            </a:r>
          </a:p>
        </p:txBody>
      </p:sp>
      <p:sp>
        <p:nvSpPr>
          <p:cNvPr id="55" name="Right Arrow 54"/>
          <p:cNvSpPr/>
          <p:nvPr/>
        </p:nvSpPr>
        <p:spPr>
          <a:xfrm>
            <a:off x="3035808" y="2359152"/>
            <a:ext cx="256032" cy="411480"/>
          </a:xfrm>
          <a:prstGeom prst="rightArrow">
            <a:avLst/>
          </a:prstGeom>
          <a:solidFill>
            <a:srgbClr val="FFFFFF"/>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ight Arrow 55"/>
          <p:cNvSpPr/>
          <p:nvPr/>
        </p:nvSpPr>
        <p:spPr>
          <a:xfrm>
            <a:off x="5641848" y="2359152"/>
            <a:ext cx="256032" cy="411480"/>
          </a:xfrm>
          <a:prstGeom prst="rightArrow">
            <a:avLst/>
          </a:prstGeom>
          <a:solidFill>
            <a:srgbClr val="FFFFFF"/>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ight Arrow 56"/>
          <p:cNvSpPr/>
          <p:nvPr/>
        </p:nvSpPr>
        <p:spPr>
          <a:xfrm>
            <a:off x="8247888" y="2359152"/>
            <a:ext cx="256032" cy="411480"/>
          </a:xfrm>
          <a:prstGeom prst="rightArrow">
            <a:avLst/>
          </a:prstGeom>
          <a:solidFill>
            <a:srgbClr val="FFFFFF"/>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914400" y="3703320"/>
            <a:ext cx="10241280" cy="1508760"/>
          </a:xfrm>
          <a:prstGeom prst="rect">
            <a:avLst/>
          </a:prstGeom>
          <a:noFill/>
        </p:spPr>
        <p:txBody>
          <a:bodyPr wrap="square" lIns="45720" tIns="27432" rIns="45720" bIns="27432">
            <a:spAutoFit/>
          </a:bodyPr>
          <a:lstStyle/>
          <a:p>
            <a:pPr algn="l"/>
            <a:r>
              <a:rPr sz="1700" b="0">
                <a:solidFill>
                  <a:srgbClr val="000000"/>
                </a:solidFill>
              </a:rPr>
              <a:t>Data flow: Attendee → Mobile App → API/Business Logic → Database → API → Mobile App. The database maintains primary keys and foreign keys to preserve relationships and data integrity. CRUD operations support creating registrations, reading schedules, updating profiles, and deleting or cancelling registrations where permitted.</a:t>
            </a:r>
          </a:p>
        </p:txBody>
      </p:sp>
      <p:pic>
        <p:nvPicPr>
          <p:cNvPr id="3" name="Picture 8">
            <a:extLst>
              <a:ext uri="{FF2B5EF4-FFF2-40B4-BE49-F238E27FC236}">
                <a16:creationId xmlns:a16="http://schemas.microsoft.com/office/drawing/2014/main" id="{1D66F33A-890A-C1F4-144A-B0904D0C08B3}"/>
              </a:ext>
            </a:extLst>
          </p:cNvPr>
          <p:cNvPicPr/>
          <p:nvPr/>
        </p:nvPicPr>
        <p:blipFill>
          <a:blip r:embed="rId2"/>
          <a:stretch/>
        </p:blipFill>
        <p:spPr>
          <a:xfrm>
            <a:off x="10328068" y="15377"/>
            <a:ext cx="1865520" cy="898560"/>
          </a:xfrm>
          <a:prstGeom prst="rect">
            <a:avLst/>
          </a:prstGeom>
          <a:noFill/>
          <a:ln w="0">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838080" y="365040"/>
            <a:ext cx="10515600" cy="1325520"/>
          </a:xfrm>
          <a:prstGeom prst="rect">
            <a:avLst/>
          </a:prstGeom>
          <a:noFill/>
          <a:ln w="0">
            <a:noFill/>
          </a:ln>
        </p:spPr>
        <p:txBody>
          <a:bodyPr lIns="91440" tIns="45720" rIns="91440" bIns="4572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4400" b="0" u="none" strike="noStrike">
                <a:solidFill>
                  <a:srgbClr val="000000"/>
                </a:solidFill>
                <a:effectLst/>
                <a:uFillTx/>
                <a:latin typeface="Calibri Light"/>
              </a:rPr>
              <a:t>Requirements Specifications</a:t>
            </a:r>
            <a:endParaRPr lang="en-US" sz="4400" b="0" u="none" strike="noStrike">
              <a:solidFill>
                <a:srgbClr val="000000"/>
              </a:solidFill>
              <a:effectLst/>
              <a:uFillTx/>
              <a:latin typeface="Calibri Light"/>
            </a:endParaRPr>
          </a:p>
        </p:txBody>
      </p:sp>
      <p:sp>
        <p:nvSpPr>
          <p:cNvPr id="52" name="Rounded Rectangle 51"/>
          <p:cNvSpPr/>
          <p:nvPr/>
        </p:nvSpPr>
        <p:spPr>
          <a:xfrm>
            <a:off x="868680" y="1417320"/>
            <a:ext cx="2926080" cy="438912"/>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000000"/>
                </a:solidFill>
              </a:rPr>
              <a:t>Functional Requirements</a:t>
            </a:r>
          </a:p>
        </p:txBody>
      </p:sp>
      <p:sp>
        <p:nvSpPr>
          <p:cNvPr id="53" name="TextBox 52"/>
          <p:cNvSpPr txBox="1"/>
          <p:nvPr/>
        </p:nvSpPr>
        <p:spPr>
          <a:xfrm>
            <a:off x="868680" y="1938528"/>
            <a:ext cx="5074920" cy="3566160"/>
          </a:xfrm>
          <a:prstGeom prst="rect">
            <a:avLst/>
          </a:prstGeom>
          <a:noFill/>
        </p:spPr>
        <p:txBody>
          <a:bodyPr wrap="square" lIns="73152" tIns="27432" rIns="45720">
            <a:spAutoFit/>
          </a:bodyPr>
          <a:lstStyle/>
          <a:p>
            <a:pPr>
              <a:spcAft>
                <a:spcPts val="800"/>
              </a:spcAft>
              <a:defRPr sz="1500">
                <a:solidFill>
                  <a:srgbClr val="282828"/>
                </a:solidFill>
              </a:defRPr>
            </a:pPr>
            <a:r>
              <a:rPr>
                <a:solidFill>
                  <a:srgbClr val="000000"/>
                </a:solidFill>
              </a:rPr>
              <a:t>• User registration, login, and profile management</a:t>
            </a:r>
          </a:p>
          <a:p>
            <a:pPr>
              <a:spcAft>
                <a:spcPts val="800"/>
              </a:spcAft>
              <a:defRPr sz="1500">
                <a:solidFill>
                  <a:srgbClr val="282828"/>
                </a:solidFill>
              </a:defRPr>
            </a:pPr>
            <a:r>
              <a:rPr>
                <a:solidFill>
                  <a:srgbClr val="000000"/>
                </a:solidFill>
              </a:rPr>
              <a:t>• Create/view event and session information</a:t>
            </a:r>
          </a:p>
          <a:p>
            <a:pPr>
              <a:spcAft>
                <a:spcPts val="800"/>
              </a:spcAft>
              <a:defRPr sz="1500">
                <a:solidFill>
                  <a:srgbClr val="282828"/>
                </a:solidFill>
              </a:defRPr>
            </a:pPr>
            <a:r>
              <a:rPr>
                <a:solidFill>
                  <a:srgbClr val="000000"/>
                </a:solidFill>
              </a:rPr>
              <a:t>• Search, filter, and register for events</a:t>
            </a:r>
          </a:p>
          <a:p>
            <a:pPr>
              <a:spcAft>
                <a:spcPts val="800"/>
              </a:spcAft>
              <a:defRPr sz="1500">
                <a:solidFill>
                  <a:srgbClr val="282828"/>
                </a:solidFill>
              </a:defRPr>
            </a:pPr>
            <a:r>
              <a:rPr>
                <a:solidFill>
                  <a:srgbClr val="000000"/>
                </a:solidFill>
              </a:rPr>
              <a:t>• Manage registrations and attendance/check-in</a:t>
            </a:r>
          </a:p>
          <a:p>
            <a:pPr>
              <a:spcAft>
                <a:spcPts val="800"/>
              </a:spcAft>
              <a:defRPr sz="1500">
                <a:solidFill>
                  <a:srgbClr val="282828"/>
                </a:solidFill>
              </a:defRPr>
            </a:pPr>
            <a:r>
              <a:rPr>
                <a:solidFill>
                  <a:srgbClr val="000000"/>
                </a:solidFill>
              </a:rPr>
              <a:t>• Receive announcements and view notifications</a:t>
            </a:r>
          </a:p>
          <a:p>
            <a:pPr>
              <a:spcAft>
                <a:spcPts val="800"/>
              </a:spcAft>
              <a:defRPr sz="1500">
                <a:solidFill>
                  <a:srgbClr val="282828"/>
                </a:solidFill>
              </a:defRPr>
            </a:pPr>
            <a:r>
              <a:rPr>
                <a:solidFill>
                  <a:srgbClr val="000000"/>
                </a:solidFill>
              </a:rPr>
              <a:t>• Submit feedback and ratings</a:t>
            </a:r>
          </a:p>
        </p:txBody>
      </p:sp>
      <p:sp>
        <p:nvSpPr>
          <p:cNvPr id="54" name="Rounded Rectangle 53"/>
          <p:cNvSpPr/>
          <p:nvPr/>
        </p:nvSpPr>
        <p:spPr>
          <a:xfrm>
            <a:off x="6172200" y="1417320"/>
            <a:ext cx="3154680" cy="438912"/>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000000"/>
                </a:solidFill>
              </a:rPr>
              <a:t>Non-Functional / Technical</a:t>
            </a:r>
          </a:p>
        </p:txBody>
      </p:sp>
      <p:sp>
        <p:nvSpPr>
          <p:cNvPr id="55" name="TextBox 54"/>
          <p:cNvSpPr txBox="1"/>
          <p:nvPr/>
        </p:nvSpPr>
        <p:spPr>
          <a:xfrm>
            <a:off x="6172200" y="1938528"/>
            <a:ext cx="4892040" cy="3566160"/>
          </a:xfrm>
          <a:prstGeom prst="rect">
            <a:avLst/>
          </a:prstGeom>
          <a:noFill/>
        </p:spPr>
        <p:txBody>
          <a:bodyPr wrap="square" lIns="73152" tIns="27432" rIns="45720">
            <a:spAutoFit/>
          </a:bodyPr>
          <a:lstStyle/>
          <a:p>
            <a:pPr>
              <a:spcAft>
                <a:spcPts val="800"/>
              </a:spcAft>
              <a:defRPr sz="1500">
                <a:solidFill>
                  <a:srgbClr val="282828"/>
                </a:solidFill>
              </a:defRPr>
            </a:pPr>
            <a:r>
              <a:rPr>
                <a:solidFill>
                  <a:srgbClr val="000000"/>
                </a:solidFill>
              </a:rPr>
              <a:t>• Responsive and easy-to-use mobile interface</a:t>
            </a:r>
          </a:p>
          <a:p>
            <a:pPr>
              <a:spcAft>
                <a:spcPts val="800"/>
              </a:spcAft>
              <a:defRPr sz="1500">
                <a:solidFill>
                  <a:srgbClr val="282828"/>
                </a:solidFill>
              </a:defRPr>
            </a:pPr>
            <a:r>
              <a:rPr>
                <a:solidFill>
                  <a:srgbClr val="000000"/>
                </a:solidFill>
              </a:rPr>
              <a:t>• Secure authentication and controlled access</a:t>
            </a:r>
          </a:p>
          <a:p>
            <a:pPr>
              <a:spcAft>
                <a:spcPts val="800"/>
              </a:spcAft>
              <a:defRPr sz="1500">
                <a:solidFill>
                  <a:srgbClr val="282828"/>
                </a:solidFill>
              </a:defRPr>
            </a:pPr>
            <a:r>
              <a:rPr>
                <a:solidFill>
                  <a:srgbClr val="000000"/>
                </a:solidFill>
              </a:rPr>
              <a:t>• Fast database queries and reliable transactions</a:t>
            </a:r>
          </a:p>
          <a:p>
            <a:pPr>
              <a:spcAft>
                <a:spcPts val="800"/>
              </a:spcAft>
              <a:defRPr sz="1500">
                <a:solidFill>
                  <a:srgbClr val="282828"/>
                </a:solidFill>
              </a:defRPr>
            </a:pPr>
            <a:r>
              <a:rPr>
                <a:solidFill>
                  <a:srgbClr val="000000"/>
                </a:solidFill>
              </a:rPr>
              <a:t>• Data integrity using keys and constraints</a:t>
            </a:r>
          </a:p>
          <a:p>
            <a:pPr>
              <a:spcAft>
                <a:spcPts val="800"/>
              </a:spcAft>
              <a:defRPr sz="1500">
                <a:solidFill>
                  <a:srgbClr val="282828"/>
                </a:solidFill>
              </a:defRPr>
            </a:pPr>
            <a:r>
              <a:rPr>
                <a:solidFill>
                  <a:srgbClr val="000000"/>
                </a:solidFill>
              </a:rPr>
              <a:t>• Scalable design for multiple events and attendees</a:t>
            </a:r>
          </a:p>
          <a:p>
            <a:pPr>
              <a:spcAft>
                <a:spcPts val="800"/>
              </a:spcAft>
              <a:defRPr sz="1500">
                <a:solidFill>
                  <a:srgbClr val="282828"/>
                </a:solidFill>
              </a:defRPr>
            </a:pPr>
            <a:r>
              <a:rPr>
                <a:solidFill>
                  <a:srgbClr val="000000"/>
                </a:solidFill>
              </a:rPr>
              <a:t>• Software: Android/Flutter or React Native, REST API, MySQL</a:t>
            </a:r>
          </a:p>
        </p:txBody>
      </p:sp>
      <p:pic>
        <p:nvPicPr>
          <p:cNvPr id="3" name="Picture 8">
            <a:extLst>
              <a:ext uri="{FF2B5EF4-FFF2-40B4-BE49-F238E27FC236}">
                <a16:creationId xmlns:a16="http://schemas.microsoft.com/office/drawing/2014/main" id="{B6589CB8-8AA1-D430-331A-D8300B4176F5}"/>
              </a:ext>
            </a:extLst>
          </p:cNvPr>
          <p:cNvPicPr/>
          <p:nvPr/>
        </p:nvPicPr>
        <p:blipFill>
          <a:blip r:embed="rId2"/>
          <a:stretch/>
        </p:blipFill>
        <p:spPr>
          <a:xfrm>
            <a:off x="10328068" y="15377"/>
            <a:ext cx="1865520" cy="898560"/>
          </a:xfrm>
          <a:prstGeom prst="rect">
            <a:avLst/>
          </a:prstGeom>
          <a:noFill/>
          <a:ln w="0">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2" name="PlaceHolder 1"/>
          <p:cNvSpPr>
            <a:spLocks noGrp="1"/>
          </p:cNvSpPr>
          <p:nvPr>
            <p:ph type="title"/>
          </p:nvPr>
        </p:nvSpPr>
        <p:spPr>
          <a:xfrm>
            <a:off x="838080" y="365040"/>
            <a:ext cx="10515600" cy="1325520"/>
          </a:xfrm>
          <a:prstGeom prst="rect">
            <a:avLst/>
          </a:prstGeom>
          <a:noFill/>
          <a:ln w="0">
            <a:noFill/>
          </a:ln>
        </p:spPr>
        <p:txBody>
          <a:bodyPr lIns="91440" tIns="45720" rIns="91440" bIns="4572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4400" b="0" u="none" strike="noStrike">
                <a:solidFill>
                  <a:srgbClr val="000000"/>
                </a:solidFill>
                <a:effectLst/>
                <a:uFillTx/>
                <a:latin typeface="Calibri Light"/>
              </a:rPr>
              <a:t>System Model</a:t>
            </a:r>
            <a:endParaRPr lang="en-US" sz="4400" b="0" u="none" strike="noStrike">
              <a:solidFill>
                <a:srgbClr val="000000"/>
              </a:solidFill>
              <a:effectLst/>
              <a:uFillTx/>
              <a:latin typeface="Calibri Light"/>
            </a:endParaRPr>
          </a:p>
        </p:txBody>
      </p:sp>
      <p:sp>
        <p:nvSpPr>
          <p:cNvPr id="54" name="Rounded Rectangle 53"/>
          <p:cNvSpPr/>
          <p:nvPr/>
        </p:nvSpPr>
        <p:spPr>
          <a:xfrm>
            <a:off x="822960" y="1371600"/>
            <a:ext cx="2743200" cy="438912"/>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000000"/>
                </a:solidFill>
              </a:rPr>
              <a:t>Use Case Model</a:t>
            </a:r>
          </a:p>
        </p:txBody>
      </p:sp>
      <p:sp>
        <p:nvSpPr>
          <p:cNvPr id="55" name="TextBox 54"/>
          <p:cNvSpPr txBox="1"/>
          <p:nvPr/>
        </p:nvSpPr>
        <p:spPr>
          <a:xfrm>
            <a:off x="914400" y="1874519"/>
            <a:ext cx="3429000" cy="3611880"/>
          </a:xfrm>
          <a:prstGeom prst="rect">
            <a:avLst/>
          </a:prstGeom>
          <a:noFill/>
        </p:spPr>
        <p:txBody>
          <a:bodyPr wrap="square" lIns="73152" tIns="27432" rIns="45720">
            <a:spAutoFit/>
          </a:bodyPr>
          <a:lstStyle/>
          <a:p>
            <a:pPr>
              <a:spcAft>
                <a:spcPts val="800"/>
              </a:spcAft>
              <a:defRPr sz="1500">
                <a:solidFill>
                  <a:srgbClr val="282828"/>
                </a:solidFill>
              </a:defRPr>
            </a:pPr>
            <a:r>
              <a:rPr dirty="0">
                <a:solidFill>
                  <a:srgbClr val="000000"/>
                </a:solidFill>
              </a:rPr>
              <a:t>• Attendee: Register, login, browse events, book/register, check-in, view schedule, give feedback.</a:t>
            </a:r>
          </a:p>
          <a:p>
            <a:pPr>
              <a:spcAft>
                <a:spcPts val="800"/>
              </a:spcAft>
              <a:defRPr sz="1500">
                <a:solidFill>
                  <a:srgbClr val="282828"/>
                </a:solidFill>
              </a:defRPr>
            </a:pPr>
            <a:r>
              <a:rPr dirty="0">
                <a:solidFill>
                  <a:srgbClr val="000000"/>
                </a:solidFill>
              </a:rPr>
              <a:t>• Organizer/Admin: Create and update events, manage sessions, monitor registrations, view reports.</a:t>
            </a:r>
          </a:p>
        </p:txBody>
      </p:sp>
      <p:sp>
        <p:nvSpPr>
          <p:cNvPr id="56" name="Rounded Rectangle 55"/>
          <p:cNvSpPr/>
          <p:nvPr/>
        </p:nvSpPr>
        <p:spPr>
          <a:xfrm>
            <a:off x="4343400" y="1371600"/>
            <a:ext cx="2926080" cy="438912"/>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000000"/>
                </a:solidFill>
              </a:rPr>
              <a:t>Database / ER Model</a:t>
            </a:r>
          </a:p>
        </p:txBody>
      </p:sp>
      <p:sp>
        <p:nvSpPr>
          <p:cNvPr id="57" name="TextBox 56"/>
          <p:cNvSpPr txBox="1"/>
          <p:nvPr/>
        </p:nvSpPr>
        <p:spPr>
          <a:xfrm>
            <a:off x="4343400" y="1874519"/>
            <a:ext cx="3429000" cy="3611880"/>
          </a:xfrm>
          <a:prstGeom prst="rect">
            <a:avLst/>
          </a:prstGeom>
          <a:noFill/>
        </p:spPr>
        <p:txBody>
          <a:bodyPr wrap="square" lIns="73152" tIns="27432" rIns="45720">
            <a:spAutoFit/>
          </a:bodyPr>
          <a:lstStyle/>
          <a:p>
            <a:pPr>
              <a:spcAft>
                <a:spcPts val="800"/>
              </a:spcAft>
              <a:defRPr sz="1400">
                <a:solidFill>
                  <a:srgbClr val="282828"/>
                </a:solidFill>
              </a:defRPr>
            </a:pPr>
            <a:r>
              <a:rPr dirty="0">
                <a:solidFill>
                  <a:srgbClr val="000000"/>
                </a:solidFill>
              </a:rPr>
              <a:t>• Users(</a:t>
            </a:r>
            <a:r>
              <a:rPr dirty="0" err="1">
                <a:solidFill>
                  <a:srgbClr val="000000"/>
                </a:solidFill>
              </a:rPr>
              <a:t>User_ID</a:t>
            </a:r>
            <a:r>
              <a:rPr dirty="0">
                <a:solidFill>
                  <a:srgbClr val="000000"/>
                </a:solidFill>
              </a:rPr>
              <a:t>, Name, Email, Phone)</a:t>
            </a:r>
          </a:p>
          <a:p>
            <a:pPr>
              <a:spcAft>
                <a:spcPts val="800"/>
              </a:spcAft>
              <a:defRPr sz="1400">
                <a:solidFill>
                  <a:srgbClr val="282828"/>
                </a:solidFill>
              </a:defRPr>
            </a:pPr>
            <a:r>
              <a:rPr dirty="0">
                <a:solidFill>
                  <a:srgbClr val="000000"/>
                </a:solidFill>
              </a:rPr>
              <a:t>• Events(</a:t>
            </a:r>
            <a:r>
              <a:rPr dirty="0" err="1">
                <a:solidFill>
                  <a:srgbClr val="000000"/>
                </a:solidFill>
              </a:rPr>
              <a:t>Event_ID</a:t>
            </a:r>
            <a:r>
              <a:rPr dirty="0">
                <a:solidFill>
                  <a:srgbClr val="000000"/>
                </a:solidFill>
              </a:rPr>
              <a:t>, Name, Date, Venue)</a:t>
            </a:r>
          </a:p>
          <a:p>
            <a:pPr>
              <a:spcAft>
                <a:spcPts val="800"/>
              </a:spcAft>
              <a:defRPr sz="1400">
                <a:solidFill>
                  <a:srgbClr val="282828"/>
                </a:solidFill>
              </a:defRPr>
            </a:pPr>
            <a:r>
              <a:rPr dirty="0">
                <a:solidFill>
                  <a:srgbClr val="000000"/>
                </a:solidFill>
              </a:rPr>
              <a:t>• Sessions(</a:t>
            </a:r>
            <a:r>
              <a:rPr dirty="0" err="1">
                <a:solidFill>
                  <a:srgbClr val="000000"/>
                </a:solidFill>
              </a:rPr>
              <a:t>Session_ID</a:t>
            </a:r>
            <a:r>
              <a:rPr dirty="0">
                <a:solidFill>
                  <a:srgbClr val="000000"/>
                </a:solidFill>
              </a:rPr>
              <a:t>, </a:t>
            </a:r>
            <a:r>
              <a:rPr dirty="0" err="1">
                <a:solidFill>
                  <a:srgbClr val="000000"/>
                </a:solidFill>
              </a:rPr>
              <a:t>Event_ID</a:t>
            </a:r>
            <a:r>
              <a:rPr dirty="0">
                <a:solidFill>
                  <a:srgbClr val="000000"/>
                </a:solidFill>
              </a:rPr>
              <a:t>, Title, Time)</a:t>
            </a:r>
          </a:p>
          <a:p>
            <a:pPr>
              <a:spcAft>
                <a:spcPts val="800"/>
              </a:spcAft>
              <a:defRPr sz="1400">
                <a:solidFill>
                  <a:srgbClr val="282828"/>
                </a:solidFill>
              </a:defRPr>
            </a:pPr>
            <a:r>
              <a:rPr dirty="0">
                <a:solidFill>
                  <a:srgbClr val="000000"/>
                </a:solidFill>
              </a:rPr>
              <a:t>• Registrations(</a:t>
            </a:r>
            <a:r>
              <a:rPr dirty="0" err="1">
                <a:solidFill>
                  <a:srgbClr val="000000"/>
                </a:solidFill>
              </a:rPr>
              <a:t>Reg_ID</a:t>
            </a:r>
            <a:r>
              <a:rPr dirty="0">
                <a:solidFill>
                  <a:srgbClr val="000000"/>
                </a:solidFill>
              </a:rPr>
              <a:t>, </a:t>
            </a:r>
            <a:r>
              <a:rPr dirty="0" err="1">
                <a:solidFill>
                  <a:srgbClr val="000000"/>
                </a:solidFill>
              </a:rPr>
              <a:t>User_ID</a:t>
            </a:r>
            <a:r>
              <a:rPr dirty="0">
                <a:solidFill>
                  <a:srgbClr val="000000"/>
                </a:solidFill>
              </a:rPr>
              <a:t>, </a:t>
            </a:r>
            <a:r>
              <a:rPr dirty="0" err="1">
                <a:solidFill>
                  <a:srgbClr val="000000"/>
                </a:solidFill>
              </a:rPr>
              <a:t>Event_ID</a:t>
            </a:r>
            <a:r>
              <a:rPr dirty="0">
                <a:solidFill>
                  <a:srgbClr val="000000"/>
                </a:solidFill>
              </a:rPr>
              <a:t>, Status)</a:t>
            </a:r>
          </a:p>
          <a:p>
            <a:pPr>
              <a:spcAft>
                <a:spcPts val="800"/>
              </a:spcAft>
              <a:defRPr sz="1400">
                <a:solidFill>
                  <a:srgbClr val="282828"/>
                </a:solidFill>
              </a:defRPr>
            </a:pPr>
            <a:r>
              <a:rPr dirty="0">
                <a:solidFill>
                  <a:srgbClr val="000000"/>
                </a:solidFill>
              </a:rPr>
              <a:t>• Feedback(</a:t>
            </a:r>
            <a:r>
              <a:rPr dirty="0" err="1">
                <a:solidFill>
                  <a:srgbClr val="000000"/>
                </a:solidFill>
              </a:rPr>
              <a:t>Feedback_ID</a:t>
            </a:r>
            <a:r>
              <a:rPr dirty="0">
                <a:solidFill>
                  <a:srgbClr val="000000"/>
                </a:solidFill>
              </a:rPr>
              <a:t>, </a:t>
            </a:r>
            <a:r>
              <a:rPr dirty="0" err="1">
                <a:solidFill>
                  <a:srgbClr val="000000"/>
                </a:solidFill>
              </a:rPr>
              <a:t>User_ID</a:t>
            </a:r>
            <a:r>
              <a:rPr dirty="0">
                <a:solidFill>
                  <a:srgbClr val="000000"/>
                </a:solidFill>
              </a:rPr>
              <a:t>, </a:t>
            </a:r>
            <a:r>
              <a:rPr dirty="0" err="1">
                <a:solidFill>
                  <a:srgbClr val="000000"/>
                </a:solidFill>
              </a:rPr>
              <a:t>Event_ID</a:t>
            </a:r>
            <a:r>
              <a:rPr dirty="0">
                <a:solidFill>
                  <a:srgbClr val="000000"/>
                </a:solidFill>
              </a:rPr>
              <a:t>, Rating, Comment)</a:t>
            </a:r>
          </a:p>
        </p:txBody>
      </p:sp>
      <p:sp>
        <p:nvSpPr>
          <p:cNvPr id="58" name="Rounded Rectangle 57"/>
          <p:cNvSpPr/>
          <p:nvPr/>
        </p:nvSpPr>
        <p:spPr>
          <a:xfrm>
            <a:off x="7909560" y="1371600"/>
            <a:ext cx="2743200" cy="438912"/>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000000"/>
                </a:solidFill>
              </a:rPr>
              <a:t>Data Flow</a:t>
            </a:r>
          </a:p>
        </p:txBody>
      </p:sp>
      <p:sp>
        <p:nvSpPr>
          <p:cNvPr id="59" name="TextBox 58"/>
          <p:cNvSpPr txBox="1"/>
          <p:nvPr/>
        </p:nvSpPr>
        <p:spPr>
          <a:xfrm>
            <a:off x="7909560" y="1874519"/>
            <a:ext cx="3337560" cy="3611880"/>
          </a:xfrm>
          <a:prstGeom prst="rect">
            <a:avLst/>
          </a:prstGeom>
          <a:noFill/>
        </p:spPr>
        <p:txBody>
          <a:bodyPr wrap="square" lIns="73152" tIns="27432" rIns="45720">
            <a:spAutoFit/>
          </a:bodyPr>
          <a:lstStyle/>
          <a:p>
            <a:pPr>
              <a:spcAft>
                <a:spcPts val="800"/>
              </a:spcAft>
              <a:defRPr sz="1500">
                <a:solidFill>
                  <a:srgbClr val="282828"/>
                </a:solidFill>
              </a:defRPr>
            </a:pPr>
            <a:r>
              <a:rPr>
                <a:solidFill>
                  <a:srgbClr val="000000"/>
                </a:solidFill>
              </a:rPr>
              <a:t>• User input is validated by the app.</a:t>
            </a:r>
          </a:p>
          <a:p>
            <a:pPr>
              <a:spcAft>
                <a:spcPts val="800"/>
              </a:spcAft>
              <a:defRPr sz="1500">
                <a:solidFill>
                  <a:srgbClr val="282828"/>
                </a:solidFill>
              </a:defRPr>
            </a:pPr>
            <a:r>
              <a:rPr>
                <a:solidFill>
                  <a:srgbClr val="000000"/>
                </a:solidFill>
              </a:rPr>
              <a:t>• API sends requests to the database.</a:t>
            </a:r>
          </a:p>
          <a:p>
            <a:pPr>
              <a:spcAft>
                <a:spcPts val="800"/>
              </a:spcAft>
              <a:defRPr sz="1500">
                <a:solidFill>
                  <a:srgbClr val="282828"/>
                </a:solidFill>
              </a:defRPr>
            </a:pPr>
            <a:r>
              <a:rPr>
                <a:solidFill>
                  <a:srgbClr val="000000"/>
                </a:solidFill>
              </a:rPr>
              <a:t>• Database performs CRUD operations.</a:t>
            </a:r>
          </a:p>
          <a:p>
            <a:pPr>
              <a:spcAft>
                <a:spcPts val="800"/>
              </a:spcAft>
              <a:defRPr sz="1500">
                <a:solidFill>
                  <a:srgbClr val="282828"/>
                </a:solidFill>
              </a:defRPr>
            </a:pPr>
            <a:r>
              <a:rPr>
                <a:solidFill>
                  <a:srgbClr val="000000"/>
                </a:solidFill>
              </a:rPr>
              <a:t>• Results are returned to the mobile app.</a:t>
            </a:r>
          </a:p>
          <a:p>
            <a:pPr>
              <a:spcAft>
                <a:spcPts val="800"/>
              </a:spcAft>
              <a:defRPr sz="1500">
                <a:solidFill>
                  <a:srgbClr val="282828"/>
                </a:solidFill>
              </a:defRPr>
            </a:pPr>
            <a:r>
              <a:rPr>
                <a:solidFill>
                  <a:srgbClr val="000000"/>
                </a:solidFill>
              </a:rPr>
              <a:t>• Admin receives summarized registration and attendance data.</a:t>
            </a:r>
          </a:p>
        </p:txBody>
      </p:sp>
      <p:pic>
        <p:nvPicPr>
          <p:cNvPr id="3" name="Picture 8">
            <a:extLst>
              <a:ext uri="{FF2B5EF4-FFF2-40B4-BE49-F238E27FC236}">
                <a16:creationId xmlns:a16="http://schemas.microsoft.com/office/drawing/2014/main" id="{3D8D5ED0-E1AD-F2F1-DAEE-922FB5354757}"/>
              </a:ext>
            </a:extLst>
          </p:cNvPr>
          <p:cNvPicPr/>
          <p:nvPr/>
        </p:nvPicPr>
        <p:blipFill>
          <a:blip r:embed="rId2"/>
          <a:stretch/>
        </p:blipFill>
        <p:spPr>
          <a:xfrm>
            <a:off x="10328068" y="15377"/>
            <a:ext cx="1865520" cy="898560"/>
          </a:xfrm>
          <a:prstGeom prst="rect">
            <a:avLst/>
          </a:prstGeom>
          <a:noFill/>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838080" y="365040"/>
            <a:ext cx="10515600" cy="1325520"/>
          </a:xfrm>
          <a:prstGeom prst="rect">
            <a:avLst/>
          </a:prstGeom>
          <a:noFill/>
          <a:ln w="0">
            <a:noFill/>
          </a:ln>
        </p:spPr>
        <p:txBody>
          <a:bodyPr lIns="91440" tIns="45720" rIns="91440" bIns="4572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4400" b="0" u="none" strike="noStrike">
                <a:solidFill>
                  <a:srgbClr val="000000"/>
                </a:solidFill>
                <a:effectLst/>
                <a:uFillTx/>
                <a:latin typeface="Calibri Light"/>
              </a:rPr>
              <a:t>Conlusion</a:t>
            </a:r>
            <a:endParaRPr lang="en-US" sz="4400" b="0" u="none" strike="noStrike">
              <a:solidFill>
                <a:srgbClr val="000000"/>
              </a:solidFill>
              <a:effectLst/>
              <a:uFillTx/>
              <a:latin typeface="Calibri Light"/>
            </a:endParaRPr>
          </a:p>
        </p:txBody>
      </p:sp>
      <p:sp>
        <p:nvSpPr>
          <p:cNvPr id="56" name="TextBox 55"/>
          <p:cNvSpPr txBox="1"/>
          <p:nvPr/>
        </p:nvSpPr>
        <p:spPr>
          <a:xfrm>
            <a:off x="838080" y="1911566"/>
            <a:ext cx="10149840" cy="4480560"/>
          </a:xfrm>
          <a:prstGeom prst="rect">
            <a:avLst/>
          </a:prstGeom>
          <a:noFill/>
        </p:spPr>
        <p:txBody>
          <a:bodyPr wrap="square" lIns="73152" tIns="27432" rIns="45720">
            <a:spAutoFit/>
          </a:bodyPr>
          <a:lstStyle/>
          <a:p>
            <a:pPr>
              <a:spcAft>
                <a:spcPts val="800"/>
              </a:spcAft>
              <a:defRPr sz="1900">
                <a:solidFill>
                  <a:srgbClr val="282828"/>
                </a:solidFill>
              </a:defRPr>
            </a:pPr>
            <a:r>
              <a:rPr dirty="0">
                <a:solidFill>
                  <a:srgbClr val="000000"/>
                </a:solidFill>
              </a:rPr>
              <a:t>• The proposed application provides a convenient self-service platform for event attendees.</a:t>
            </a:r>
          </a:p>
          <a:p>
            <a:pPr>
              <a:spcAft>
                <a:spcPts val="800"/>
              </a:spcAft>
              <a:defRPr sz="1900">
                <a:solidFill>
                  <a:srgbClr val="282828"/>
                </a:solidFill>
              </a:defRPr>
            </a:pPr>
            <a:r>
              <a:rPr dirty="0">
                <a:solidFill>
                  <a:srgbClr val="000000"/>
                </a:solidFill>
              </a:rPr>
              <a:t>• A centralized database improves consistency, retrieval, and management of event information.</a:t>
            </a:r>
          </a:p>
          <a:p>
            <a:pPr>
              <a:spcAft>
                <a:spcPts val="800"/>
              </a:spcAft>
              <a:defRPr sz="1900">
                <a:solidFill>
                  <a:srgbClr val="282828"/>
                </a:solidFill>
              </a:defRPr>
            </a:pPr>
            <a:r>
              <a:rPr dirty="0">
                <a:solidFill>
                  <a:srgbClr val="000000"/>
                </a:solidFill>
              </a:rPr>
              <a:t>• Automation reduces manual registration, attendance, and communication work for organizers.</a:t>
            </a:r>
          </a:p>
          <a:p>
            <a:pPr>
              <a:spcAft>
                <a:spcPts val="800"/>
              </a:spcAft>
              <a:defRPr sz="1900">
                <a:solidFill>
                  <a:srgbClr val="282828"/>
                </a:solidFill>
              </a:defRPr>
            </a:pPr>
            <a:r>
              <a:rPr dirty="0">
                <a:solidFill>
                  <a:srgbClr val="000000"/>
                </a:solidFill>
              </a:rPr>
              <a:t>• The system supports secure user access, event registration, schedules, notifications, and feedback.</a:t>
            </a:r>
          </a:p>
          <a:p>
            <a:pPr>
              <a:spcAft>
                <a:spcPts val="800"/>
              </a:spcAft>
              <a:defRPr sz="1900">
                <a:solidFill>
                  <a:srgbClr val="282828"/>
                </a:solidFill>
              </a:defRPr>
            </a:pPr>
            <a:r>
              <a:rPr dirty="0">
                <a:solidFill>
                  <a:srgbClr val="000000"/>
                </a:solidFill>
              </a:rPr>
              <a:t>• The design can be extended with QR-based check-in, online payments, analytics dashboards, and personalized recommendations.</a:t>
            </a:r>
          </a:p>
        </p:txBody>
      </p:sp>
      <p:pic>
        <p:nvPicPr>
          <p:cNvPr id="3" name="Picture 8">
            <a:extLst>
              <a:ext uri="{FF2B5EF4-FFF2-40B4-BE49-F238E27FC236}">
                <a16:creationId xmlns:a16="http://schemas.microsoft.com/office/drawing/2014/main" id="{2D03630C-65F1-F13D-654D-D13493C392BF}"/>
              </a:ext>
            </a:extLst>
          </p:cNvPr>
          <p:cNvPicPr/>
          <p:nvPr/>
        </p:nvPicPr>
        <p:blipFill>
          <a:blip r:embed="rId2"/>
          <a:stretch/>
        </p:blipFill>
        <p:spPr>
          <a:xfrm>
            <a:off x="10328068" y="15377"/>
            <a:ext cx="1865520" cy="898560"/>
          </a:xfrm>
          <a:prstGeom prst="rect">
            <a:avLst/>
          </a:prstGeom>
          <a:noFill/>
          <a:ln w="0">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6" name="PlaceHolder 1"/>
          <p:cNvSpPr>
            <a:spLocks noGrp="1"/>
          </p:cNvSpPr>
          <p:nvPr>
            <p:ph type="title"/>
          </p:nvPr>
        </p:nvSpPr>
        <p:spPr>
          <a:xfrm>
            <a:off x="838080" y="365040"/>
            <a:ext cx="10515600" cy="1325520"/>
          </a:xfrm>
          <a:prstGeom prst="rect">
            <a:avLst/>
          </a:prstGeom>
          <a:noFill/>
          <a:ln w="0">
            <a:noFill/>
          </a:ln>
        </p:spPr>
        <p:txBody>
          <a:bodyPr lIns="90000" tIns="46800" rIns="90000" bIns="46800" anchor="ctr">
            <a:sp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4400" b="0" u="none" strike="noStrike">
              <a:solidFill>
                <a:srgbClr val="000000"/>
              </a:solidFill>
              <a:effectLst/>
              <a:uFillTx/>
              <a:latin typeface="Calibri Light"/>
            </a:endParaRPr>
          </a:p>
        </p:txBody>
      </p:sp>
      <p:sp>
        <p:nvSpPr>
          <p:cNvPr id="57" name="TextBox 56"/>
          <p:cNvSpPr txBox="1"/>
          <p:nvPr/>
        </p:nvSpPr>
        <p:spPr>
          <a:xfrm>
            <a:off x="838080" y="1825200"/>
            <a:ext cx="10515600" cy="4351320"/>
          </a:xfrm>
          <a:prstGeom prst="rect">
            <a:avLst/>
          </a:prstGeom>
          <a:noFill/>
          <a:ln w="0">
            <a:noFill/>
          </a:ln>
        </p:spPr>
        <p:txBody>
          <a:bodyPr wrap="square" anchor="t">
            <a:normAutofit/>
          </a:bodyPr>
          <a:lstStyle/>
          <a:p>
            <a:pPr algn="ctr">
              <a:lnSpc>
                <a:spcPct val="90000"/>
              </a:lnSpc>
              <a:spcBef>
                <a:spcPts val="1001"/>
              </a:spcBef>
              <a:buClr>
                <a:srgbClr val="000000"/>
              </a:buClr>
              <a:tabLst>
                <a:tab pos="914400" algn="l"/>
                <a:tab pos="1828800" algn="l"/>
                <a:tab pos="2743200" algn="l"/>
                <a:tab pos="3657600" algn="l"/>
                <a:tab pos="4572000" algn="l"/>
                <a:tab pos="5486400" algn="l"/>
                <a:tab pos="6400800" algn="l"/>
                <a:tab pos="7315200" algn="l"/>
                <a:tab pos="8229600" algn="l"/>
                <a:tab pos="9144000" algn="l"/>
                <a:tab pos="10058400" algn="l"/>
              </a:tabLst>
            </a:pPr>
            <a:r>
              <a:rPr sz="9600" b="1" dirty="0">
                <a:solidFill>
                  <a:srgbClr val="000000"/>
                </a:solidFill>
              </a:rPr>
              <a:t>Thank You</a:t>
            </a:r>
            <a:endParaRPr lang="en-US" sz="9600" b="0" u="none" strike="noStrike" dirty="0">
              <a:solidFill>
                <a:srgbClr val="000000"/>
              </a:solidFill>
              <a:effectLst/>
              <a:uFillTx/>
              <a:latin typeface="Calibri"/>
            </a:endParaRPr>
          </a:p>
        </p:txBody>
      </p:sp>
      <p:pic>
        <p:nvPicPr>
          <p:cNvPr id="3" name="Picture 8">
            <a:extLst>
              <a:ext uri="{FF2B5EF4-FFF2-40B4-BE49-F238E27FC236}">
                <a16:creationId xmlns:a16="http://schemas.microsoft.com/office/drawing/2014/main" id="{584BE5E2-5E89-8D31-6FBC-9EA59BA6597F}"/>
              </a:ext>
            </a:extLst>
          </p:cNvPr>
          <p:cNvPicPr/>
          <p:nvPr/>
        </p:nvPicPr>
        <p:blipFill>
          <a:blip r:embed="rId2"/>
          <a:stretch/>
        </p:blipFill>
        <p:spPr>
          <a:xfrm>
            <a:off x="10328068" y="15377"/>
            <a:ext cx="1865520" cy="898560"/>
          </a:xfrm>
          <a:prstGeom prst="rect">
            <a:avLst/>
          </a:prstGeom>
          <a:noFill/>
          <a:ln w="0">
            <a:noFill/>
          </a:ln>
        </p:spPr>
      </p:pic>
    </p:spTree>
  </p:cSld>
  <p:clrMapOvr>
    <a:masterClrMapping/>
  </p:clrMapOvr>
</p:sld>
</file>

<file path=ppt/theme/theme1.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TotalTime>
  <Words>1166</Words>
  <Application>Microsoft Office PowerPoint</Application>
  <PresentationFormat>Custom</PresentationFormat>
  <Paragraphs>106</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Arial Rounded MT Bold</vt:lpstr>
      <vt:lpstr>Calibri</vt:lpstr>
      <vt:lpstr>Calibri Light</vt:lpstr>
      <vt:lpstr>Times New Roman</vt:lpstr>
      <vt:lpstr>Office</vt:lpstr>
      <vt:lpstr>PowerPoint Presentation</vt:lpstr>
      <vt:lpstr> Agenda</vt:lpstr>
      <vt:lpstr>Abstract</vt:lpstr>
      <vt:lpstr>Introduction</vt:lpstr>
      <vt:lpstr>Existing system</vt:lpstr>
      <vt:lpstr>Proposed system</vt:lpstr>
      <vt:lpstr>System architecture</vt:lpstr>
      <vt:lpstr>Requirements Specifications</vt:lpstr>
      <vt:lpstr>System Model</vt:lpstr>
      <vt:lpstr>Conlusion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HP</dc:creator>
  <cp:lastModifiedBy>Shiva Reddy Umanthala</cp:lastModifiedBy>
  <cp:revision>1</cp:revision>
  <dcterms:modified xsi:type="dcterms:W3CDTF">2026-09-29T04:46:16Z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2022-09-15T14:17:00Z</dcterms:created>
  <dc:creator>M V Kamal</dc:creator>
  <dc:description/>
  <dc:language>en-US</dc:language>
  <cp:lastModifiedBy>Shiva Reddy Umanthala</cp:lastModifiedBy>
  <dcterms:modified xsi:type="dcterms:W3CDTF">2026-09-09T09:32:07Z</dcterms:modified>
  <cp:revision>51</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CA684AD55E314E5EB50F5E4221BF87A5_13</vt:lpwstr>
  </property>
  <property fmtid="{D5CDD505-2E9C-101B-9397-08002B2CF9AE}" pid="3" name="KSOProductBuildVer">
    <vt:lpwstr>1033-12.1.0.28032</vt:lpwstr>
  </property>
</Properties>
</file>